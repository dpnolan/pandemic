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1pPr>
    <a:lvl2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2pPr>
    <a:lvl3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3pPr>
    <a:lvl4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4pPr>
    <a:lvl5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5pPr>
    <a:lvl6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6pPr>
    <a:lvl7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7pPr>
    <a:lvl8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8pPr>
    <a:lvl9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2E7"/>
          </a:solidFill>
        </a:fill>
      </a:tcStyle>
    </a:wholeTbl>
    <a:band2H>
      <a:tcTxStyle b="def" i="def"/>
      <a:tcStyle>
        <a:tcBdr/>
        <a:fill>
          <a:solidFill>
            <a:srgbClr val="EFF1F3"/>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FECB"/>
          </a:solidFill>
        </a:fill>
      </a:tcStyle>
    </a:wholeTbl>
    <a:band2H>
      <a:tcTxStyle b="def" i="def"/>
      <a:tcStyle>
        <a:tcBdr/>
        <a:fill>
          <a:solidFill>
            <a:srgbClr val="E7FFE7"/>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DEFF"/>
          </a:solidFill>
        </a:fill>
      </a:tcStyle>
    </a:wholeTbl>
    <a:band2H>
      <a:tcTxStyle b="def" i="def"/>
      <a:tcStyle>
        <a:tcBdr/>
        <a:fill>
          <a:solidFill>
            <a:srgbClr val="F9EFFF"/>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Produkt Extralight"/>
          <a:ea typeface="Produkt Extralight"/>
          <a:cs typeface="Produkt Extralight"/>
        </a:font>
        <a:srgbClr val="4B607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9EB"/>
          </a:solidFill>
        </a:fill>
      </a:tcStyle>
    </a:wholeTbl>
    <a:band2H>
      <a:tcTxStyle b="def" i="def"/>
      <a:tcStyle>
        <a:tcBdr/>
        <a:fill>
          <a:solidFill>
            <a:srgbClr val="FFFFFF"/>
          </a:solidFill>
        </a:fill>
      </a:tcStyle>
    </a:band2H>
    <a:firstCol>
      <a:tcTxStyle b="on" i="off">
        <a:font>
          <a:latin typeface="Produkt Extralight"/>
          <a:ea typeface="Produkt Extralight"/>
          <a:cs typeface="Produkt Extra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Produkt Extralight"/>
          <a:ea typeface="Produkt Extralight"/>
          <a:cs typeface="Produkt Extralight"/>
        </a:font>
        <a:srgbClr val="4B6079"/>
      </a:tcTxStyle>
      <a:tcStyle>
        <a:tcBdr>
          <a:left>
            <a:ln w="12700" cap="flat">
              <a:noFill/>
              <a:miter lim="400000"/>
            </a:ln>
          </a:left>
          <a:right>
            <a:ln w="12700" cap="flat">
              <a:noFill/>
              <a:miter lim="400000"/>
            </a:ln>
          </a:right>
          <a:top>
            <a:ln w="50800" cap="flat">
              <a:solidFill>
                <a:srgbClr val="4B6079"/>
              </a:solidFill>
              <a:prstDash val="solid"/>
              <a:round/>
            </a:ln>
          </a:top>
          <a:bottom>
            <a:ln w="25400" cap="flat">
              <a:solidFill>
                <a:srgbClr val="4B6079"/>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Produkt Extralight"/>
          <a:ea typeface="Produkt Extralight"/>
          <a:cs typeface="Produkt Extralight"/>
        </a:font>
        <a:srgbClr val="FFFFFF"/>
      </a:tcTxStyle>
      <a:tcStyle>
        <a:tcBdr>
          <a:left>
            <a:ln w="12700" cap="flat">
              <a:noFill/>
              <a:miter lim="400000"/>
            </a:ln>
          </a:left>
          <a:right>
            <a:ln w="12700" cap="flat">
              <a:noFill/>
              <a:miter lim="400000"/>
            </a:ln>
          </a:right>
          <a:top>
            <a:ln w="25400" cap="flat">
              <a:solidFill>
                <a:srgbClr val="4B6079"/>
              </a:solidFill>
              <a:prstDash val="solid"/>
              <a:round/>
            </a:ln>
          </a:top>
          <a:bottom>
            <a:ln w="25400" cap="flat">
              <a:solidFill>
                <a:srgbClr val="4B6079"/>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1D6"/>
          </a:solidFill>
        </a:fill>
      </a:tcStyle>
    </a:wholeTbl>
    <a:band2H>
      <a:tcTxStyle b="def" i="def"/>
      <a:tcStyle>
        <a:tcBdr/>
        <a:fill>
          <a:solidFill>
            <a:srgbClr val="E8E9EB"/>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firstRow>
  </a:tblStyle>
  <a:tblStyle styleId="{2708684C-4D16-4618-839F-0558EEFCDFE6}" styleName="">
    <a:tblBg/>
    <a:wholeTbl>
      <a:tcTxStyle b="off"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6500" y="12268782"/>
            <a:ext cx="21971000" cy="660402"/>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12" name="Body Level One…"/>
          <p:cNvSpPr txBox="1"/>
          <p:nvPr>
            <p:ph type="body" sz="quarter" idx="21" hasCustomPrompt="1"/>
          </p:nvPr>
        </p:nvSpPr>
        <p:spPr>
          <a:xfrm>
            <a:off x="1206500" y="7357839"/>
            <a:ext cx="21971000" cy="2006602"/>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13" name="Presentation Title"/>
          <p:cNvSpPr txBox="1"/>
          <p:nvPr>
            <p:ph type="title" hasCustomPrompt="1"/>
          </p:nvPr>
        </p:nvSpPr>
        <p:spPr>
          <a:xfrm>
            <a:off x="1206500" y="2621719"/>
            <a:ext cx="21971000" cy="4648202"/>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eometric grey stone architecture"/>
          <p:cNvSpPr/>
          <p:nvPr>
            <p:ph type="pic" idx="21"/>
          </p:nvPr>
        </p:nvSpPr>
        <p:spPr>
          <a:xfrm>
            <a:off x="0" y="-4381500"/>
            <a:ext cx="24384002" cy="18288000"/>
          </a:xfrm>
          <a:prstGeom prst="rect">
            <a:avLst/>
          </a:prstGeom>
        </p:spPr>
        <p:txBody>
          <a:bodyPr lIns="91439" tIns="45719" rIns="91439" bIns="45719">
            <a:noAutofit/>
          </a:bodyPr>
          <a:lstStyle/>
          <a:p>
            <a:pPr/>
          </a:p>
        </p:txBody>
      </p:sp>
      <p:sp>
        <p:nvSpPr>
          <p:cNvPr id="22" name="Body Level One…"/>
          <p:cNvSpPr txBox="1"/>
          <p:nvPr>
            <p:ph type="body" sz="quarter" idx="1" hasCustomPrompt="1"/>
          </p:nvPr>
        </p:nvSpPr>
        <p:spPr>
          <a:xfrm>
            <a:off x="1206500" y="12268200"/>
            <a:ext cx="21971000" cy="660400"/>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23" name="Body Level One…"/>
          <p:cNvSpPr txBox="1"/>
          <p:nvPr>
            <p:ph type="body" sz="quarter" idx="22"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24" name="Presentation Title"/>
          <p:cNvSpPr txBox="1"/>
          <p:nvPr>
            <p:ph type="title" hasCustomPrompt="1"/>
          </p:nvPr>
        </p:nvSpPr>
        <p:spPr>
          <a:xfrm>
            <a:off x="1206500" y="2611945"/>
            <a:ext cx="21971000" cy="4648202"/>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Geometric grey stone architecture"/>
          <p:cNvSpPr/>
          <p:nvPr>
            <p:ph type="pic" idx="21"/>
          </p:nvPr>
        </p:nvSpPr>
        <p:spPr>
          <a:xfrm>
            <a:off x="5707495" y="-660400"/>
            <a:ext cx="20053303" cy="15042093"/>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49476"/>
            <a:ext cx="9779000" cy="5385424"/>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vl2pPr marL="0" indent="0" defTabSz="825500">
              <a:spcBef>
                <a:spcPts val="0"/>
              </a:spcBef>
              <a:buSzTx/>
              <a:buNone/>
              <a:defRPr sz="5500">
                <a:latin typeface="Produkt Extralight"/>
                <a:ea typeface="Produkt Extralight"/>
                <a:cs typeface="Produkt Extralight"/>
                <a:sym typeface="Produkt Extralight"/>
              </a:defRPr>
            </a:lvl2pPr>
            <a:lvl3pPr marL="0" indent="0" defTabSz="825500">
              <a:spcBef>
                <a:spcPts val="0"/>
              </a:spcBef>
              <a:buSzTx/>
              <a:buNone/>
              <a:defRPr sz="5500">
                <a:latin typeface="Produkt Extralight"/>
                <a:ea typeface="Produkt Extralight"/>
                <a:cs typeface="Produkt Extralight"/>
                <a:sym typeface="Produkt Extralight"/>
              </a:defRPr>
            </a:lvl3pPr>
            <a:lvl4pPr marL="0" indent="0" defTabSz="825500">
              <a:spcBef>
                <a:spcPts val="0"/>
              </a:spcBef>
              <a:buSzTx/>
              <a:buNone/>
              <a:defRPr sz="5500">
                <a:latin typeface="Produkt Extralight"/>
                <a:ea typeface="Produkt Extralight"/>
                <a:cs typeface="Produkt Extralight"/>
                <a:sym typeface="Produkt Extralight"/>
              </a:defRPr>
            </a:lvl4pPr>
            <a:lvl5pPr marL="0" indent="0" defTabSz="825500">
              <a:spcBef>
                <a:spcPts val="0"/>
              </a:spcBef>
              <a:buSzTx/>
              <a:buNone/>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43"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prstGeom prst="rect">
            <a:avLst/>
          </a:prstGeom>
        </p:spPr>
        <p:txBody>
          <a:bodyPr/>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61" name="Angular stone architecture in light and shadow"/>
          <p:cNvSpPr/>
          <p:nvPr>
            <p:ph type="pic" idx="21"/>
          </p:nvPr>
        </p:nvSpPr>
        <p:spPr>
          <a:xfrm>
            <a:off x="12382500" y="0"/>
            <a:ext cx="21945600" cy="13716002"/>
          </a:xfrm>
          <a:prstGeom prst="rect">
            <a:avLst/>
          </a:prstGeom>
        </p:spPr>
        <p:txBody>
          <a:bodyPr lIns="91439" tIns="45719" rIns="91439" bIns="45719">
            <a:noAutofit/>
          </a:bodyPr>
          <a:lstStyle/>
          <a:p>
            <a:pP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22" hasCustomPrompt="1"/>
          </p:nvPr>
        </p:nvSpPr>
        <p:spPr>
          <a:xfrm>
            <a:off x="1206500" y="4248503"/>
            <a:ext cx="9779000" cy="8256631"/>
          </a:xfrm>
          <a:prstGeom prst="rect">
            <a:avLst/>
          </a:prstGeom>
        </p:spPr>
        <p:txBody>
          <a:bodyPr/>
          <a:lstStyle/>
          <a:p>
            <a:pPr/>
            <a:r>
              <a:t>Slide bullet text</a:t>
            </a:r>
          </a:p>
        </p:txBody>
      </p:sp>
      <p:sp>
        <p:nvSpPr>
          <p:cNvPr id="64" name="Slide Number"/>
          <p:cNvSpPr txBox="1"/>
          <p:nvPr>
            <p:ph type="sldNum" sz="quarter" idx="2"/>
          </p:nvPr>
        </p:nvSpPr>
        <p:spPr>
          <a:xfrm>
            <a:off x="23558500" y="12483845"/>
            <a:ext cx="361188" cy="404115"/>
          </a:xfrm>
          <a:prstGeom prst="rect">
            <a:avLst/>
          </a:prstGeom>
        </p:spPr>
        <p:txBody>
          <a:bodyPr/>
          <a:lstStyle>
            <a:lvl1pPr>
              <a:defRPr sz="18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7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73" name="Body Level One…"/>
          <p:cNvSpPr txBox="1"/>
          <p:nvPr>
            <p:ph type="body" sz="half" idx="21" hasCustomPrompt="1"/>
          </p:nvPr>
        </p:nvSpPr>
        <p:spPr>
          <a:xfrm>
            <a:off x="1206500" y="4248503"/>
            <a:ext cx="9779000" cy="8256631"/>
          </a:xfrm>
          <a:prstGeom prst="rect">
            <a:avLst/>
          </a:prstGeom>
        </p:spPr>
        <p:txBody>
          <a:bodyPr/>
          <a:lstStyle/>
          <a:p>
            <a:pPr/>
            <a:r>
              <a:t>Slide bullet text</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21" hasCustomPrompt="1"/>
          </p:nvPr>
        </p:nvSpPr>
        <p:spPr>
          <a:xfrm>
            <a:off x="1206500" y="4248503"/>
            <a:ext cx="9779000" cy="8256631"/>
          </a:xfrm>
          <a:prstGeom prst="rect">
            <a:avLst/>
          </a:prstGeom>
        </p:spPr>
        <p:txBody>
          <a:bodyPr/>
          <a:lstStyle/>
          <a:p>
            <a:pPr/>
            <a:r>
              <a:t>Slide bullet text</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500" y="3906899"/>
            <a:ext cx="21971005" cy="4648202"/>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100"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Agenda Subtitle</a:t>
            </a:r>
          </a:p>
          <a:p>
            <a:pPr lvl="1"/>
            <a:r>
              <a:t/>
            </a:r>
          </a:p>
          <a:p>
            <a:pPr lvl="2"/>
            <a:r>
              <a:t/>
            </a:r>
          </a:p>
          <a:p>
            <a:pPr lvl="3"/>
            <a:r>
              <a:t/>
            </a:r>
          </a:p>
          <a:p>
            <a:pPr lvl="4"/>
            <a:r>
              <a:t/>
            </a:r>
          </a:p>
        </p:txBody>
      </p:sp>
      <p:sp>
        <p:nvSpPr>
          <p:cNvPr id="109" name="Body Level One…"/>
          <p:cNvSpPr txBox="1"/>
          <p:nvPr>
            <p:ph type="body" idx="21" hasCustomPrompt="1"/>
          </p:nvPr>
        </p:nvSpPr>
        <p:spPr>
          <a:xfrm>
            <a:off x="1206500" y="4248503"/>
            <a:ext cx="21971000" cy="8256014"/>
          </a:xfrm>
          <a:prstGeom prst="rect">
            <a:avLst/>
          </a:prstGeom>
        </p:spPr>
        <p:txBody>
          <a:bodyPr/>
          <a:lstStyle>
            <a:lvl1pPr marL="0" indent="0" defTabSz="825500">
              <a:spcBef>
                <a:spcPts val="6000"/>
              </a:spcBef>
              <a:buSzTx/>
              <a:buNone/>
              <a:defRPr sz="5000"/>
            </a:lvl1pPr>
          </a:lstStyle>
          <a:p>
            <a:pPr/>
            <a:r>
              <a:t>Agenda Topics</a:t>
            </a:r>
          </a:p>
        </p:txBody>
      </p:sp>
      <p:sp>
        <p:nvSpPr>
          <p:cNvPr id="110" name="Agenda Title"/>
          <p:cNvSpPr txBox="1"/>
          <p:nvPr>
            <p:ph type="title" hasCustomPrompt="1"/>
          </p:nvPr>
        </p:nvSpPr>
        <p:spPr>
          <a:xfrm>
            <a:off x="1206500" y="635000"/>
            <a:ext cx="21971000" cy="1689100"/>
          </a:xfrm>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a:lnSpc>
                <a:spcPct val="90000"/>
              </a:lnSpc>
              <a:spcBef>
                <a:spcPts val="0"/>
              </a:spcBef>
              <a:buSzTx/>
              <a:buNone/>
              <a:defRPr spc="-119" sz="12000">
                <a:latin typeface="Produkt Extralight"/>
                <a:ea typeface="Produkt Extralight"/>
                <a:cs typeface="Produkt Extralight"/>
                <a:sym typeface="Produkt Extralight"/>
              </a:defRPr>
            </a:lvl1pPr>
            <a:lvl2pPr marL="0" indent="0" algn="ctr">
              <a:lnSpc>
                <a:spcPct val="90000"/>
              </a:lnSpc>
              <a:spcBef>
                <a:spcPts val="0"/>
              </a:spcBef>
              <a:buSzTx/>
              <a:buNone/>
              <a:defRPr spc="-119" sz="12000">
                <a:latin typeface="Produkt Extralight"/>
                <a:ea typeface="Produkt Extralight"/>
                <a:cs typeface="Produkt Extralight"/>
                <a:sym typeface="Produkt Extralight"/>
              </a:defRPr>
            </a:lvl2pPr>
            <a:lvl3pPr marL="0" indent="0" algn="ctr">
              <a:lnSpc>
                <a:spcPct val="90000"/>
              </a:lnSpc>
              <a:spcBef>
                <a:spcPts val="0"/>
              </a:spcBef>
              <a:buSzTx/>
              <a:buNone/>
              <a:defRPr spc="-119" sz="12000">
                <a:latin typeface="Produkt Extralight"/>
                <a:ea typeface="Produkt Extralight"/>
                <a:cs typeface="Produkt Extralight"/>
                <a:sym typeface="Produkt Extralight"/>
              </a:defRPr>
            </a:lvl3pPr>
            <a:lvl4pPr marL="0" indent="0" algn="ctr">
              <a:lnSpc>
                <a:spcPct val="90000"/>
              </a:lnSpc>
              <a:spcBef>
                <a:spcPts val="0"/>
              </a:spcBef>
              <a:buSzTx/>
              <a:buNone/>
              <a:defRPr spc="-119" sz="12000">
                <a:latin typeface="Produkt Extralight"/>
                <a:ea typeface="Produkt Extralight"/>
                <a:cs typeface="Produkt Extralight"/>
                <a:sym typeface="Produkt Extralight"/>
              </a:defRPr>
            </a:lvl4pPr>
            <a:lvl5pPr marL="0" indent="0" algn="ctr">
              <a:lnSpc>
                <a:spcPct val="90000"/>
              </a:lnSpc>
              <a:spcBef>
                <a:spcPts val="0"/>
              </a:spcBef>
              <a:buSzTx/>
              <a:buNone/>
              <a:defRPr spc="-119" sz="12000">
                <a:latin typeface="Produkt Extralight"/>
                <a:ea typeface="Produkt Extralight"/>
                <a:cs typeface="Produkt Extralight"/>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7360"/>
            <a:ext cx="21971000" cy="7351452"/>
          </a:xfrm>
          <a:prstGeom prst="rect">
            <a:avLst/>
          </a:prstGeom>
        </p:spPr>
        <p:txBody>
          <a:bodyPr anchor="b"/>
          <a:lstStyle>
            <a:lvl1pPr marL="0" indent="0" algn="ctr">
              <a:lnSpc>
                <a:spcPct val="90000"/>
              </a:lnSpc>
              <a:spcBef>
                <a:spcPts val="0"/>
              </a:spcBef>
              <a:buSzTx/>
              <a:buNone/>
              <a:defRPr spc="-1750" sz="35000">
                <a:latin typeface="Produkt Extralight"/>
                <a:ea typeface="Produkt Extralight"/>
                <a:cs typeface="Produkt Extralight"/>
                <a:sym typeface="Produkt Extralight"/>
              </a:defRPr>
            </a:lvl1pPr>
            <a:lvl2pPr marL="0" indent="0" algn="ctr">
              <a:lnSpc>
                <a:spcPct val="90000"/>
              </a:lnSpc>
              <a:spcBef>
                <a:spcPts val="0"/>
              </a:spcBef>
              <a:buSzTx/>
              <a:buNone/>
              <a:defRPr spc="-1750" sz="35000">
                <a:latin typeface="Produkt Extralight"/>
                <a:ea typeface="Produkt Extralight"/>
                <a:cs typeface="Produkt Extralight"/>
                <a:sym typeface="Produkt Extralight"/>
              </a:defRPr>
            </a:lvl2pPr>
            <a:lvl3pPr marL="0" indent="0" algn="ctr">
              <a:lnSpc>
                <a:spcPct val="90000"/>
              </a:lnSpc>
              <a:spcBef>
                <a:spcPts val="0"/>
              </a:spcBef>
              <a:buSzTx/>
              <a:buNone/>
              <a:defRPr spc="-1750" sz="35000">
                <a:latin typeface="Produkt Extralight"/>
                <a:ea typeface="Produkt Extralight"/>
                <a:cs typeface="Produkt Extralight"/>
                <a:sym typeface="Produkt Extralight"/>
              </a:defRPr>
            </a:lvl3pPr>
            <a:lvl4pPr marL="0" indent="0" algn="ctr">
              <a:lnSpc>
                <a:spcPct val="90000"/>
              </a:lnSpc>
              <a:spcBef>
                <a:spcPts val="0"/>
              </a:spcBef>
              <a:buSzTx/>
              <a:buNone/>
              <a:defRPr spc="-1750" sz="35000">
                <a:latin typeface="Produkt Extralight"/>
                <a:ea typeface="Produkt Extralight"/>
                <a:cs typeface="Produkt Extralight"/>
                <a:sym typeface="Produkt Extralight"/>
              </a:defRPr>
            </a:lvl4pPr>
            <a:lvl5pPr marL="0" indent="0" algn="ctr">
              <a:lnSpc>
                <a:spcPct val="90000"/>
              </a:lnSpc>
              <a:spcBef>
                <a:spcPts val="0"/>
              </a:spcBef>
              <a:buSzTx/>
              <a:buNone/>
              <a:defRPr spc="-1750" sz="35000">
                <a:latin typeface="Produkt Extralight"/>
                <a:ea typeface="Produkt Extralight"/>
                <a:cs typeface="Produkt Extralight"/>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8" tIns="45718" rIns="45718" bIns="45718"/>
          <a:lstStyle>
            <a:lvl1pPr marL="0" indent="0" algn="ctr" defTabSz="825500">
              <a:lnSpc>
                <a:spcPct val="90000"/>
              </a:lnSpc>
              <a:spcBef>
                <a:spcPts val="0"/>
              </a:spcBef>
              <a:buSzTx/>
              <a:buNone/>
              <a:defRPr spc="-99" sz="5500">
                <a:latin typeface="Produkt Extralight"/>
                <a:ea typeface="Produkt Extralight"/>
                <a:cs typeface="Produkt Extralight"/>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5194300" y="4165600"/>
            <a:ext cx="13995400" cy="4428667"/>
          </a:xfrm>
          <a:prstGeom prst="rect">
            <a:avLst/>
          </a:prstGeom>
        </p:spPr>
        <p:txBody>
          <a:bodyPr anchor="b"/>
          <a:lstStyle>
            <a:lvl1pPr marL="254000" indent="-254000">
              <a:lnSpc>
                <a:spcPct val="90000"/>
              </a:lnSpc>
              <a:spcBef>
                <a:spcPts val="0"/>
              </a:spcBef>
              <a:buSzTx/>
              <a:buNone/>
              <a:defRPr spc="-93" sz="9300">
                <a:latin typeface="Produkt Extralight"/>
                <a:ea typeface="Produkt Extralight"/>
                <a:cs typeface="Produkt Extralight"/>
                <a:sym typeface="Produkt Extralight"/>
              </a:defRPr>
            </a:lvl1pPr>
            <a:lvl2pPr marL="254000" indent="0">
              <a:lnSpc>
                <a:spcPct val="90000"/>
              </a:lnSpc>
              <a:spcBef>
                <a:spcPts val="0"/>
              </a:spcBef>
              <a:buSzTx/>
              <a:buNone/>
              <a:defRPr spc="-93" sz="9300">
                <a:latin typeface="Produkt Extralight"/>
                <a:ea typeface="Produkt Extralight"/>
                <a:cs typeface="Produkt Extralight"/>
                <a:sym typeface="Produkt Extralight"/>
              </a:defRPr>
            </a:lvl2pPr>
            <a:lvl3pPr marL="254000" indent="0">
              <a:lnSpc>
                <a:spcPct val="90000"/>
              </a:lnSpc>
              <a:spcBef>
                <a:spcPts val="0"/>
              </a:spcBef>
              <a:buSzTx/>
              <a:buNone/>
              <a:defRPr spc="-93" sz="9300">
                <a:latin typeface="Produkt Extralight"/>
                <a:ea typeface="Produkt Extralight"/>
                <a:cs typeface="Produkt Extralight"/>
                <a:sym typeface="Produkt Extralight"/>
              </a:defRPr>
            </a:lvl3pPr>
            <a:lvl4pPr marL="254000" indent="0">
              <a:lnSpc>
                <a:spcPct val="90000"/>
              </a:lnSpc>
              <a:spcBef>
                <a:spcPts val="0"/>
              </a:spcBef>
              <a:buSzTx/>
              <a:buNone/>
              <a:defRPr spc="-93" sz="9300">
                <a:latin typeface="Produkt Extralight"/>
                <a:ea typeface="Produkt Extralight"/>
                <a:cs typeface="Produkt Extralight"/>
                <a:sym typeface="Produkt Extralight"/>
              </a:defRPr>
            </a:lvl4pPr>
            <a:lvl5pPr marL="254000" indent="0">
              <a:lnSpc>
                <a:spcPct val="90000"/>
              </a:lnSpc>
              <a:spcBef>
                <a:spcPts val="0"/>
              </a:spcBef>
              <a:buSzTx/>
              <a:buNone/>
              <a:defRPr spc="-93" sz="9300">
                <a:latin typeface="Produkt Extralight"/>
                <a:ea typeface="Produkt Extralight"/>
                <a:cs typeface="Produkt Extralight"/>
                <a:sym typeface="Produkt Extralight"/>
              </a:defRPr>
            </a:lvl5pPr>
          </a:lstStyle>
          <a:p>
            <a:pPr/>
            <a:r>
              <a:t>“Notable Quote”</a:t>
            </a:r>
          </a:p>
          <a:p>
            <a:pPr lvl="1"/>
            <a:r>
              <a:t/>
            </a:r>
          </a:p>
          <a:p>
            <a:pPr lvl="2"/>
            <a:r>
              <a:t/>
            </a:r>
          </a:p>
          <a:p>
            <a:pPr lvl="3"/>
            <a:r>
              <a:t/>
            </a:r>
          </a:p>
          <a:p>
            <a:pPr lvl="4"/>
            <a:r>
              <a:t/>
            </a:r>
          </a:p>
        </p:txBody>
      </p:sp>
      <p:sp>
        <p:nvSpPr>
          <p:cNvPr id="136" name="Attribution"/>
          <p:cNvSpPr txBox="1"/>
          <p:nvPr>
            <p:ph type="body" sz="quarter" idx="21" hasCustomPrompt="1"/>
          </p:nvPr>
        </p:nvSpPr>
        <p:spPr>
          <a:xfrm>
            <a:off x="5456256" y="9559997"/>
            <a:ext cx="13471488" cy="698502"/>
          </a:xfrm>
          <a:prstGeom prst="rect">
            <a:avLst/>
          </a:prstGeom>
        </p:spPr>
        <p:txBody>
          <a:bodyPr lIns="45718" tIns="45718" rIns="45718" bIns="45718"/>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Wavy pink and orange architecture against a blue sky"/>
          <p:cNvSpPr/>
          <p:nvPr>
            <p:ph type="pic" sz="quarter" idx="21"/>
          </p:nvPr>
        </p:nvSpPr>
        <p:spPr>
          <a:xfrm>
            <a:off x="7353300" y="3632200"/>
            <a:ext cx="9677400" cy="6451600"/>
          </a:xfrm>
          <a:prstGeom prst="rect">
            <a:avLst/>
          </a:prstGeom>
        </p:spPr>
        <p:txBody>
          <a:bodyPr lIns="91439" tIns="45719" rIns="91439" bIns="45719">
            <a:noAutofit/>
          </a:bodyPr>
          <a:lstStyle/>
          <a:p>
            <a:pPr/>
          </a:p>
        </p:txBody>
      </p:sp>
      <p:sp>
        <p:nvSpPr>
          <p:cNvPr id="145" name="Low-angle view of the corner of a modern building under a clear blue sky"/>
          <p:cNvSpPr/>
          <p:nvPr>
            <p:ph type="pic" sz="quarter" idx="22"/>
          </p:nvPr>
        </p:nvSpPr>
        <p:spPr>
          <a:xfrm>
            <a:off x="14617700" y="3632200"/>
            <a:ext cx="9677400" cy="6451600"/>
          </a:xfrm>
          <a:prstGeom prst="rect">
            <a:avLst/>
          </a:prstGeom>
        </p:spPr>
        <p:txBody>
          <a:bodyPr lIns="91439" tIns="45719" rIns="91439" bIns="45719">
            <a:noAutofit/>
          </a:bodyPr>
          <a:lstStyle/>
          <a:p>
            <a:pPr/>
          </a:p>
        </p:txBody>
      </p:sp>
      <p:sp>
        <p:nvSpPr>
          <p:cNvPr id="146" name="Low-angle view of a stone bridge under a partly cloudy sky"/>
          <p:cNvSpPr/>
          <p:nvPr>
            <p:ph type="pic" sz="quarter" idx="23"/>
          </p:nvPr>
        </p:nvSpPr>
        <p:spPr>
          <a:xfrm>
            <a:off x="61385" y="3632200"/>
            <a:ext cx="9690102" cy="64516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Low-angle view of a modern, metal building"/>
          <p:cNvSpPr/>
          <p:nvPr>
            <p:ph type="pic" idx="21"/>
          </p:nvPr>
        </p:nvSpPr>
        <p:spPr>
          <a:xfrm>
            <a:off x="-38100" y="-1295400"/>
            <a:ext cx="24447500" cy="16295511"/>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23558500" y="12483845"/>
            <a:ext cx="361188" cy="404115"/>
          </a:xfrm>
          <a:prstGeom prst="rect">
            <a:avLst/>
          </a:prstGeom>
        </p:spPr>
        <p:txBody>
          <a:bodyPr/>
          <a:lstStyle>
            <a:lvl1pPr>
              <a:defRPr sz="18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4B6079"/>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60641"/>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Slide Number"/>
          <p:cNvSpPr txBox="1"/>
          <p:nvPr>
            <p:ph type="sldNum" sz="quarter" idx="2"/>
          </p:nvPr>
        </p:nvSpPr>
        <p:spPr>
          <a:xfrm>
            <a:off x="23558500" y="12458700"/>
            <a:ext cx="388620" cy="429261"/>
          </a:xfrm>
          <a:prstGeom prst="rect">
            <a:avLst/>
          </a:prstGeom>
          <a:ln w="12700">
            <a:miter lim="400000"/>
          </a:ln>
        </p:spPr>
        <p:txBody>
          <a:bodyPr wrap="none" lIns="50800" tIns="50800" rIns="50800" bIns="50800" anchor="b">
            <a:spAutoFit/>
          </a:bodyPr>
          <a:lstStyle>
            <a:lvl1pPr defTabSz="584200">
              <a:spcBef>
                <a:spcPts val="0"/>
              </a:spcBef>
              <a:defRPr sz="2000">
                <a:solidFill>
                  <a:srgbClr val="FFFFFF"/>
                </a:solidFill>
                <a:latin typeface="Graphik"/>
                <a:ea typeface="Graphik"/>
                <a:cs typeface="Graphik"/>
                <a:sym typeface="Graphik"/>
              </a:defRPr>
            </a:lvl1pPr>
          </a:lstStyle>
          <a:p>
            <a:pPr/>
            <a:fld id="{86CB4B4D-7CA3-9044-876B-883B54F8677D}" type="slidenum"/>
          </a:p>
        </p:txBody>
      </p:sp>
      <p:sp>
        <p:nvSpPr>
          <p:cNvPr id="4" name="Title Text"/>
          <p:cNvSpPr txBox="1"/>
          <p:nvPr>
            <p:ph type="title"/>
          </p:nvPr>
        </p:nvSpPr>
        <p:spPr>
          <a:xfrm>
            <a:off x="3653366" y="2743200"/>
            <a:ext cx="19507201" cy="15174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1pPr>
      <a:lvl2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2pPr>
      <a:lvl3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3pPr>
      <a:lvl4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4pPr>
      <a:lvl5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5pPr>
      <a:lvl6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6pPr>
      <a:lvl7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7pPr>
      <a:lvl8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8pPr>
      <a:lvl9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9pPr>
    </p:titleStyle>
    <p:bodyStyle>
      <a:lvl1pPr marL="4572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1pPr>
      <a:lvl2pPr marL="9144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2pPr>
      <a:lvl3pPr marL="13716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3pPr>
      <a:lvl4pPr marL="18288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4pPr>
      <a:lvl5pPr marL="22860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5pPr>
      <a:lvl6pPr marL="27432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6pPr>
      <a:lvl7pPr marL="32004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7pPr>
      <a:lvl8pPr marL="36576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8pPr>
      <a:lvl9pPr marL="41148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9pPr>
    </p:bodyStyle>
    <p:otherStyle>
      <a:lvl1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 Id="rId3" Type="http://schemas.openxmlformats.org/officeDocument/2006/relationships/hyperlink" Target="mailto:databeaker@gmail.com" TargetMode="External"/><Relationship Id="rId4"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dpnolan/pandemic"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dpnolan/pandemic"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hyperlink" Target="https://github.com/dpnolan/pandemic"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 Id="rId3" Type="http://schemas.openxmlformats.org/officeDocument/2006/relationships/hyperlink" Target="https://github.com/dpnolan/pandemic"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 Id="rId3" Type="http://schemas.openxmlformats.org/officeDocument/2006/relationships/hyperlink" Target="https://github.com/dpnolan/pandemic"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eg"/><Relationship Id="rId3" Type="http://schemas.openxmlformats.org/officeDocument/2006/relationships/hyperlink" Target="https://github.com/dpnolan/pandemic"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eg"/><Relationship Id="rId3" Type="http://schemas.openxmlformats.org/officeDocument/2006/relationships/hyperlink" Target="https://github.com/dpnolan/pandemic"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s://github.com/dpnolan/pandemic"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s://github.com/dpnolan/pandemic" TargetMode="Externa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youtube.com/watch?v=X-YR3UlH3aA" TargetMode="External"/><Relationship Id="rId3" Type="http://schemas.openxmlformats.org/officeDocument/2006/relationships/image" Target="../media/image6.png"/><Relationship Id="rId4" Type="http://schemas.openxmlformats.org/officeDocument/2006/relationships/hyperlink" Target="https://github.com/dpnolan/pandemic"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hyperlink" Target="https://github.com/dpnolan/pandemic"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wars/SlidingSIR/tree/master" TargetMode="External"/><Relationship Id="rId3" Type="http://schemas.openxmlformats.org/officeDocument/2006/relationships/hyperlink" Target="https://github.com/dpnolan/pandemic"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1002/sim.9164" TargetMode="External"/><Relationship Id="rId3" Type="http://schemas.openxmlformats.org/officeDocument/2006/relationships/hyperlink" Target="https://github.com/charlesm93/disease_transmission_workflow/tree/main" TargetMode="External"/><Relationship Id="rId4" Type="http://schemas.openxmlformats.org/officeDocument/2006/relationships/hyperlink" Target="https://mc-stan.org/learn-stan/case-studies/boarding_school_case_study.html" TargetMode="External"/><Relationship Id="rId5" Type="http://schemas.openxmlformats.org/officeDocument/2006/relationships/hyperlink" Target="https://pmc.ncbi.nlm.nih.gov/articles/PMC1603269/pdf/brmedj00115-0064.pdf" TargetMode="External"/><Relationship Id="rId6" Type="http://schemas.openxmlformats.org/officeDocument/2006/relationships/hyperlink" Target="https://www.kaggle.com/datasets/antonymgitau/influenza-england-1978-school-csv" TargetMode="External"/><Relationship Id="rId7" Type="http://schemas.openxmlformats.org/officeDocument/2006/relationships/hyperlink" Target="https://assets.gov.ie/122667/8379f0cc-5be3-4c89-9a1e-3b7328ae03af.pdf" TargetMode="External"/><Relationship Id="rId8" Type="http://schemas.openxmlformats.org/officeDocument/2006/relationships/hyperlink" Target="https://github.com/obrienjoey/ireland_covid_modelling" TargetMode="External"/><Relationship Id="rId9" Type="http://schemas.openxmlformats.org/officeDocument/2006/relationships/hyperlink" Target="http://19.geohive.ie/datasets/d8eb52d56273413b84b0187a4e9117be_0/about" TargetMode="External"/><Relationship Id="rId10" Type="http://schemas.openxmlformats.org/officeDocument/2006/relationships/hyperlink" Target="https://github.com/dpnolan/pandemic" TargetMode="Externa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hyperlink" Target="https://github.com/dpnolan/pandemic" TargetMode="Externa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st.github.com/twiecki/43def0aa16ee6a23f822a124eb429958" TargetMode="External"/><Relationship Id="rId3" Type="http://schemas.openxmlformats.org/officeDocument/2006/relationships/image" Target="../media/image9.png"/><Relationship Id="rId4" Type="http://schemas.openxmlformats.org/officeDocument/2006/relationships/hyperlink" Target="https://github.com/dpnolan/pandemic" TargetMode="Externa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6.jpeg"/><Relationship Id="rId5" Type="http://schemas.openxmlformats.org/officeDocument/2006/relationships/hyperlink" Target="https://github.com/dpnolan/pandemic" TargetMode="Externa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3.png"/><Relationship Id="rId9" Type="http://schemas.openxmlformats.org/officeDocument/2006/relationships/hyperlink" Target="https://github.com/dpnolan/pandemic"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ov.uk/government/publications/reproduction-number-r-and-growth-rate-methodology/reproduction-number-r-and-growth-rate-methodology#fnref:1" TargetMode="External"/><Relationship Id="rId3" Type="http://schemas.openxmlformats.org/officeDocument/2006/relationships/image" Target="../media/image32.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hyperlink" Target="https://github.com/dpnolan/pandemic" TargetMode="External"/></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birdwatchireland.ie/devastating-bird-flu-impacts-on-irish-seabirds-revealed-in-new-study/" TargetMode="External"/><Relationship Id="rId3" Type="http://schemas.openxmlformats.org/officeDocument/2006/relationships/image" Target="../media/image34.png"/><Relationship Id="rId4" Type="http://schemas.openxmlformats.org/officeDocument/2006/relationships/hyperlink" Target="https://github.com/dpnolan/pandemic" TargetMode="External"/></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 Id="rId3" Type="http://schemas.openxmlformats.org/officeDocument/2006/relationships/hyperlink" Target="mailto:databeaker@gmail.com" TargetMode="Externa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Citizenship for the Second Irish Century"/>
          <p:cNvSpPr txBox="1"/>
          <p:nvPr>
            <p:ph type="body" idx="22"/>
          </p:nvPr>
        </p:nvSpPr>
        <p:spPr>
          <a:xfrm>
            <a:off x="673975" y="8283378"/>
            <a:ext cx="11370022" cy="4263954"/>
          </a:xfrm>
          <a:prstGeom prst="rect">
            <a:avLst/>
          </a:prstGeom>
          <a:extLst>
            <a:ext uri="{C572A759-6A51-4108-AA02-DFA0A04FC94B}">
              <ma14:wrappingTextBoxFlag xmlns:ma14="http://schemas.microsoft.com/office/mac/drawingml/2011/main" val="1"/>
            </a:ext>
          </a:extLst>
        </p:spPr>
        <p:txBody>
          <a:bodyPr/>
          <a:lstStyle/>
          <a:p>
            <a:pPr defTabSz="79654">
              <a:lnSpc>
                <a:spcPct val="90000"/>
              </a:lnSpc>
              <a:defRPr spc="-66" sz="3400"/>
            </a:pPr>
            <a:r>
              <a:t>Peter Nolan</a:t>
            </a:r>
          </a:p>
          <a:p>
            <a:pPr defTabSz="79654">
              <a:lnSpc>
                <a:spcPct val="90000"/>
              </a:lnSpc>
              <a:defRPr spc="-66" sz="3400">
                <a:solidFill>
                  <a:schemeClr val="accent4"/>
                </a:solidFill>
              </a:defRPr>
            </a:pPr>
            <a:r>
              <a:rPr>
                <a:hlinkClick r:id="rId2" invalidUrl="" action="" tgtFrame="" tooltip="" history="1" highlightClick="0" endSnd="0"/>
              </a:rPr>
              <a:t>https://github.com/dpnolan/pandemic</a:t>
            </a:r>
            <a:endParaRPr>
              <a:solidFill>
                <a:srgbClr val="FF2824"/>
              </a:solidFill>
            </a:endParaRPr>
          </a:p>
          <a:p>
            <a:pPr defTabSz="79654">
              <a:lnSpc>
                <a:spcPct val="90000"/>
              </a:lnSpc>
              <a:defRPr spc="-66" sz="3400"/>
            </a:pPr>
            <a:r>
              <a:rPr>
                <a:hlinkClick r:id="rId3" invalidUrl="" action="" tgtFrame="" tooltip="" history="1" highlightClick="0" endSnd="0"/>
              </a:rPr>
              <a:t>databeaker@gmail.com</a:t>
            </a:r>
          </a:p>
          <a:p>
            <a:pPr defTabSz="79654">
              <a:lnSpc>
                <a:spcPct val="90000"/>
              </a:lnSpc>
              <a:defRPr spc="-66" sz="3400"/>
            </a:pPr>
            <a:r>
              <a:t>@dpnolan</a:t>
            </a:r>
          </a:p>
          <a:p>
            <a:pPr defTabSz="79654">
              <a:lnSpc>
                <a:spcPct val="90000"/>
              </a:lnSpc>
              <a:defRPr spc="-66" sz="3400"/>
            </a:pPr>
          </a:p>
          <a:p>
            <a:pPr defTabSz="79654">
              <a:lnSpc>
                <a:spcPct val="90000"/>
              </a:lnSpc>
              <a:defRPr spc="-66" sz="3400"/>
            </a:pPr>
            <a:r>
              <a:t>Python Ireland</a:t>
            </a:r>
          </a:p>
          <a:p>
            <a:pPr defTabSz="79654">
              <a:lnSpc>
                <a:spcPct val="90000"/>
              </a:lnSpc>
              <a:defRPr spc="-66" sz="3400"/>
            </a:pPr>
            <a:r>
              <a:t>Sunday 16 November 2025</a:t>
            </a:r>
          </a:p>
          <a:p>
            <a:pPr defTabSz="79654">
              <a:lnSpc>
                <a:spcPct val="90000"/>
              </a:lnSpc>
              <a:defRPr spc="-66" sz="3400"/>
            </a:pPr>
            <a:r>
              <a:t>UCD</a:t>
            </a:r>
          </a:p>
          <a:p>
            <a:pPr defTabSz="79654">
              <a:lnSpc>
                <a:spcPct val="90000"/>
              </a:lnSpc>
              <a:defRPr spc="-66" sz="3400"/>
            </a:pPr>
          </a:p>
          <a:p>
            <a:pPr defTabSz="79654">
              <a:lnSpc>
                <a:spcPct val="90000"/>
              </a:lnSpc>
              <a:defRPr spc="-66" sz="3400"/>
            </a:pPr>
          </a:p>
        </p:txBody>
      </p:sp>
      <p:sp>
        <p:nvSpPr>
          <p:cNvPr id="172" name="Building a Home for the Global Irish Nation"/>
          <p:cNvSpPr txBox="1"/>
          <p:nvPr>
            <p:ph type="title"/>
          </p:nvPr>
        </p:nvSpPr>
        <p:spPr>
          <a:xfrm>
            <a:off x="558800" y="2030372"/>
            <a:ext cx="12358449" cy="4648203"/>
          </a:xfrm>
          <a:prstGeom prst="rect">
            <a:avLst/>
          </a:prstGeom>
        </p:spPr>
        <p:txBody>
          <a:bodyPr/>
          <a:lstStyle/>
          <a:p>
            <a:pPr defTabSz="210266">
              <a:defRPr spc="-75" sz="7300"/>
            </a:pPr>
            <a:r>
              <a:t>Modelling the COVID Pandemic in Ireland with Bayesian Methods in Python</a:t>
            </a:r>
          </a:p>
          <a:p>
            <a:pPr defTabSz="210266">
              <a:defRPr spc="-75" sz="7300"/>
            </a:pPr>
            <a:r>
              <a:t>using PyMC and STAN</a:t>
            </a:r>
          </a:p>
        </p:txBody>
      </p:sp>
      <p:sp>
        <p:nvSpPr>
          <p:cNvPr id="173" name="Slide Number"/>
          <p:cNvSpPr txBox="1"/>
          <p:nvPr>
            <p:ph type="sldNum" sz="quarter" idx="2"/>
          </p:nvPr>
        </p:nvSpPr>
        <p:spPr>
          <a:xfrm>
            <a:off x="23558500" y="12458700"/>
            <a:ext cx="21564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4" name="COVID_stack.jpg" descr="COVID_stack.jpg"/>
          <p:cNvPicPr>
            <a:picLocks noChangeAspect="1"/>
          </p:cNvPicPr>
          <p:nvPr/>
        </p:nvPicPr>
        <p:blipFill>
          <a:blip r:embed="rId4">
            <a:extLst/>
          </a:blip>
          <a:stretch>
            <a:fillRect/>
          </a:stretch>
        </p:blipFill>
        <p:spPr>
          <a:xfrm>
            <a:off x="14808200" y="2133600"/>
            <a:ext cx="7810500" cy="10414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Who and Where are the Global Irish?"/>
          <p:cNvSpPr txBox="1"/>
          <p:nvPr>
            <p:ph type="title"/>
          </p:nvPr>
        </p:nvSpPr>
        <p:spPr>
          <a:xfrm>
            <a:off x="660400" y="698500"/>
            <a:ext cx="21971000" cy="1689100"/>
          </a:xfrm>
          <a:prstGeom prst="rect">
            <a:avLst/>
          </a:prstGeom>
        </p:spPr>
        <p:txBody>
          <a:bodyPr/>
          <a:lstStyle/>
          <a:p>
            <a:pPr lvl="1" defTabSz="2200599">
              <a:defRPr sz="9500"/>
            </a:pPr>
            <a:r>
              <a:t>My Motivations</a:t>
            </a:r>
          </a:p>
        </p:txBody>
      </p:sp>
      <p:sp>
        <p:nvSpPr>
          <p:cNvPr id="177" name="Northern Ireland: CRN, PUL and unaffiliated, Irish, British, Northern Irish total 1.9m…"/>
          <p:cNvSpPr txBox="1"/>
          <p:nvPr>
            <p:ph type="body" sz="half" idx="1"/>
          </p:nvPr>
        </p:nvSpPr>
        <p:spPr>
          <a:xfrm>
            <a:off x="10972716" y="3356488"/>
            <a:ext cx="12052235" cy="8305801"/>
          </a:xfrm>
          <a:prstGeom prst="rect">
            <a:avLst/>
          </a:prstGeom>
        </p:spPr>
        <p:txBody>
          <a:bodyPr lIns="50800" tIns="50800" rIns="50800" bIns="50800"/>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Where and when was this photo taken?</a:t>
            </a:r>
          </a:p>
        </p:txBody>
      </p:sp>
      <p:sp>
        <p:nvSpPr>
          <p:cNvPr id="178" name="Slide Number"/>
          <p:cNvSpPr txBox="1"/>
          <p:nvPr>
            <p:ph type="sldNum" sz="quarter" idx="2"/>
          </p:nvPr>
        </p:nvSpPr>
        <p:spPr>
          <a:xfrm>
            <a:off x="23558500" y="12458700"/>
            <a:ext cx="2550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9" name="nobel.jpg" descr="nobel.jpg"/>
          <p:cNvPicPr>
            <a:picLocks noChangeAspect="1"/>
          </p:cNvPicPr>
          <p:nvPr/>
        </p:nvPicPr>
        <p:blipFill>
          <a:blip r:embed="rId2">
            <a:extLst/>
          </a:blip>
          <a:stretch>
            <a:fillRect/>
          </a:stretch>
        </p:blipFill>
        <p:spPr>
          <a:xfrm>
            <a:off x="1033710" y="2505588"/>
            <a:ext cx="7666199" cy="10221598"/>
          </a:xfrm>
          <a:prstGeom prst="rect">
            <a:avLst/>
          </a:prstGeom>
          <a:ln w="12700">
            <a:miter lim="400000"/>
          </a:ln>
        </p:spPr>
      </p:pic>
      <p:sp>
        <p:nvSpPr>
          <p:cNvPr id="180"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Who and Where are the Global Irish?"/>
          <p:cNvSpPr txBox="1"/>
          <p:nvPr>
            <p:ph type="title"/>
          </p:nvPr>
        </p:nvSpPr>
        <p:spPr>
          <a:xfrm>
            <a:off x="660400" y="698500"/>
            <a:ext cx="21971000" cy="1689100"/>
          </a:xfrm>
          <a:prstGeom prst="rect">
            <a:avLst/>
          </a:prstGeom>
        </p:spPr>
        <p:txBody>
          <a:bodyPr/>
          <a:lstStyle/>
          <a:p>
            <a:pPr lvl="1" defTabSz="2200599">
              <a:defRPr sz="9500"/>
            </a:pPr>
            <a:r>
              <a:t>My Motivations</a:t>
            </a:r>
          </a:p>
        </p:txBody>
      </p:sp>
      <p:sp>
        <p:nvSpPr>
          <p:cNvPr id="183" name="Northern Ireland: CRN, PUL and unaffiliated, Irish, British, Northern Irish total 1.9m…"/>
          <p:cNvSpPr txBox="1"/>
          <p:nvPr>
            <p:ph type="body" sz="half" idx="1"/>
          </p:nvPr>
        </p:nvSpPr>
        <p:spPr>
          <a:xfrm>
            <a:off x="10579016" y="2454788"/>
            <a:ext cx="12052235" cy="10221598"/>
          </a:xfrm>
          <a:prstGeom prst="rect">
            <a:avLst/>
          </a:prstGeom>
        </p:spPr>
        <p:txBody>
          <a:bodyPr lIns="50800" tIns="50800" rIns="50800" bIns="50800"/>
          <a:lstStyle/>
          <a:p>
            <a:pPr marL="401052" indent="-401052" algn="just" defTabSz="2438337">
              <a:spcBef>
                <a:spcPts val="4700"/>
              </a:spcBef>
              <a:buSzPct val="100000"/>
              <a:buChar char="•"/>
              <a:defRPr sz="4000">
                <a:latin typeface="Graphik Light"/>
                <a:ea typeface="Graphik Light"/>
                <a:cs typeface="Graphik Light"/>
                <a:sym typeface="Graphik Light"/>
              </a:defRPr>
            </a:pPr>
            <a:r>
              <a:t>In 2020, I was living in Stockholm - Here I am in March at Nobel's tomb</a:t>
            </a:r>
          </a:p>
          <a:p>
            <a:pPr marL="401052" indent="-401052" algn="just" defTabSz="2438337">
              <a:spcBef>
                <a:spcPts val="4700"/>
              </a:spcBef>
              <a:buSzPct val="100000"/>
              <a:buChar char="•"/>
              <a:defRPr sz="4000">
                <a:latin typeface="Graphik Light"/>
                <a:ea typeface="Graphik Light"/>
                <a:cs typeface="Graphik Light"/>
                <a:sym typeface="Graphik Light"/>
              </a:defRPr>
            </a:pPr>
            <a:r>
              <a:t>Family legacy - my grandmother died of TB when my mother was 8, leaving 9  more children under 16</a:t>
            </a:r>
          </a:p>
          <a:p>
            <a:pPr marL="401052" indent="-401052" algn="just" defTabSz="2438337">
              <a:spcBef>
                <a:spcPts val="4700"/>
              </a:spcBef>
              <a:buSzPct val="100000"/>
              <a:buChar char="•"/>
              <a:defRPr sz="4000">
                <a:latin typeface="Graphik Light"/>
                <a:ea typeface="Graphik Light"/>
                <a:cs typeface="Graphik Light"/>
                <a:sym typeface="Graphik Light"/>
              </a:defRPr>
            </a:pPr>
            <a:r>
              <a:t>In February 2006 on David McWilliams’ TV show, I said my 5 person software firm had done more pandemic preparation than the Irish government</a:t>
            </a:r>
          </a:p>
          <a:p>
            <a:pPr marL="401052" indent="-401052" algn="just" defTabSz="2438337">
              <a:spcBef>
                <a:spcPts val="4700"/>
              </a:spcBef>
              <a:buSzPct val="100000"/>
              <a:buChar char="•"/>
              <a:defRPr sz="4000">
                <a:latin typeface="Graphik Light"/>
                <a:ea typeface="Graphik Light"/>
                <a:cs typeface="Graphik Light"/>
                <a:sym typeface="Graphik Light"/>
              </a:defRPr>
            </a:pPr>
            <a:r>
              <a:t>The Swedish government were relatively relaxed but data analysts in NGOs and business acted quickly and radically</a:t>
            </a:r>
          </a:p>
        </p:txBody>
      </p:sp>
      <p:sp>
        <p:nvSpPr>
          <p:cNvPr id="184" name="Slide Number"/>
          <p:cNvSpPr txBox="1"/>
          <p:nvPr>
            <p:ph type="sldNum" sz="quarter" idx="2"/>
          </p:nvPr>
        </p:nvSpPr>
        <p:spPr>
          <a:xfrm>
            <a:off x="23558500" y="12458700"/>
            <a:ext cx="2677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5" name="nobel.jpg" descr="nobel.jpg"/>
          <p:cNvPicPr>
            <a:picLocks noChangeAspect="1"/>
          </p:cNvPicPr>
          <p:nvPr/>
        </p:nvPicPr>
        <p:blipFill>
          <a:blip r:embed="rId2">
            <a:extLst/>
          </a:blip>
          <a:stretch>
            <a:fillRect/>
          </a:stretch>
        </p:blipFill>
        <p:spPr>
          <a:xfrm>
            <a:off x="1033710" y="2505588"/>
            <a:ext cx="7666199" cy="10221598"/>
          </a:xfrm>
          <a:prstGeom prst="rect">
            <a:avLst/>
          </a:prstGeom>
          <a:ln w="12700">
            <a:miter lim="400000"/>
          </a:ln>
        </p:spPr>
      </p:pic>
      <p:sp>
        <p:nvSpPr>
          <p:cNvPr id="18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Research Ques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Research Question</a:t>
            </a:r>
          </a:p>
        </p:txBody>
      </p:sp>
      <p:sp>
        <p:nvSpPr>
          <p:cNvPr id="189" name="Body Level One…"/>
          <p:cNvSpPr txBox="1"/>
          <p:nvPr>
            <p:ph type="body" idx="21"/>
          </p:nvPr>
        </p:nvSpPr>
        <p:spPr>
          <a:xfrm>
            <a:off x="1092200" y="3447841"/>
            <a:ext cx="21971000" cy="9005314"/>
          </a:xfrm>
          <a:prstGeom prst="rect">
            <a:avLst/>
          </a:prstGeom>
          <a:extLst>
            <a:ext uri="{C572A759-6A51-4108-AA02-DFA0A04FC94B}">
              <ma14:wrappingTextBoxFlag xmlns:ma14="http://schemas.microsoft.com/office/mac/drawingml/2011/main" val="1"/>
            </a:ext>
          </a:extLst>
        </p:spPr>
        <p:txBody>
          <a:bodyPr/>
          <a:lstStyle/>
          <a:p>
            <a:pPr/>
            <a:r>
              <a:t>What models can we use for measuring and forecasting the evolution of epidemics?</a:t>
            </a:r>
          </a:p>
          <a:p>
            <a:pPr/>
            <a:r>
              <a:t>What are the tools in Python?</a:t>
            </a:r>
          </a:p>
        </p:txBody>
      </p:sp>
      <p:sp>
        <p:nvSpPr>
          <p:cNvPr id="190" name="Slide Number"/>
          <p:cNvSpPr txBox="1"/>
          <p:nvPr>
            <p:ph type="sldNum" sz="quarter" idx="2"/>
          </p:nvPr>
        </p:nvSpPr>
        <p:spPr>
          <a:xfrm>
            <a:off x="23558500" y="12458700"/>
            <a:ext cx="271018"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My Approach"/>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My Approach</a:t>
            </a:r>
          </a:p>
        </p:txBody>
      </p:sp>
      <p:sp>
        <p:nvSpPr>
          <p:cNvPr id="194" name="Body Level One…"/>
          <p:cNvSpPr txBox="1"/>
          <p:nvPr>
            <p:ph type="body" idx="21"/>
          </p:nvPr>
        </p:nvSpPr>
        <p:spPr>
          <a:xfrm>
            <a:off x="1092200" y="3549441"/>
            <a:ext cx="21971000" cy="9005314"/>
          </a:xfrm>
          <a:prstGeom prst="rect">
            <a:avLst/>
          </a:prstGeom>
          <a:extLst>
            <a:ext uri="{C572A759-6A51-4108-AA02-DFA0A04FC94B}">
              <ma14:wrappingTextBoxFlag xmlns:ma14="http://schemas.microsoft.com/office/mac/drawingml/2011/main" val="1"/>
            </a:ext>
          </a:extLst>
        </p:spPr>
        <p:txBody>
          <a:bodyPr/>
          <a:lstStyle/>
          <a:p>
            <a:pPr/>
            <a:r>
              <a:t>Create and run the models myself </a:t>
            </a:r>
          </a:p>
          <a:p>
            <a:pPr/>
            <a:r>
              <a:t>A test in real-time of the Python solutions</a:t>
            </a:r>
          </a:p>
          <a:p>
            <a:pPr marL="401052" indent="-401052"/>
            <a:r>
              <a:t>Nevertheless, our open-source community, academic publications and open data made this project possible, so let’s show our support. </a:t>
            </a:r>
          </a:p>
          <a:p>
            <a:pPr marL="401052" indent="-401052"/>
            <a:r>
              <a:t>’All models are wrong, some are useful’.  Mine are more likely than most to be wrong, so feel free to comment here or later.  </a:t>
            </a:r>
          </a:p>
        </p:txBody>
      </p:sp>
      <p:sp>
        <p:nvSpPr>
          <p:cNvPr id="195" name="Slide Number"/>
          <p:cNvSpPr txBox="1"/>
          <p:nvPr>
            <p:ph type="sldNum" sz="quarter" idx="2"/>
          </p:nvPr>
        </p:nvSpPr>
        <p:spPr>
          <a:xfrm>
            <a:off x="23558500" y="12458700"/>
            <a:ext cx="263398"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6" name="https://github.com/dpnolan/pandemic"/>
          <p:cNvSpPr txBox="1"/>
          <p:nvPr/>
        </p:nvSpPr>
        <p:spPr>
          <a:xfrm>
            <a:off x="9791700" y="129873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ummary"/>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Summary</a:t>
            </a:r>
          </a:p>
        </p:txBody>
      </p:sp>
      <p:sp>
        <p:nvSpPr>
          <p:cNvPr id="199" name="Body Level One…"/>
          <p:cNvSpPr txBox="1"/>
          <p:nvPr>
            <p:ph type="body" idx="21"/>
          </p:nvPr>
        </p:nvSpPr>
        <p:spPr>
          <a:xfrm>
            <a:off x="1092200" y="3549441"/>
            <a:ext cx="21971000" cy="9005314"/>
          </a:xfrm>
          <a:prstGeom prst="rect">
            <a:avLst/>
          </a:prstGeom>
          <a:extLst>
            <a:ext uri="{C572A759-6A51-4108-AA02-DFA0A04FC94B}">
              <ma14:wrappingTextBoxFlag xmlns:ma14="http://schemas.microsoft.com/office/mac/drawingml/2011/main" val="1"/>
            </a:ext>
          </a:extLst>
        </p:spPr>
        <p:txBody>
          <a:bodyPr/>
          <a:lstStyle/>
          <a:p>
            <a:pPr/>
            <a:r>
              <a:t>Literature review - history of models</a:t>
            </a:r>
          </a:p>
          <a:p>
            <a:pPr/>
            <a:r>
              <a:t>The Susceptible - Infected - Rcovered (SIR) model parameters and dynamics </a:t>
            </a:r>
          </a:p>
          <a:p>
            <a:pPr/>
            <a:r>
              <a:t>Estimating the SIR model parameters</a:t>
            </a:r>
          </a:p>
        </p:txBody>
      </p:sp>
      <p:sp>
        <p:nvSpPr>
          <p:cNvPr id="200" name="Slide Number"/>
          <p:cNvSpPr txBox="1"/>
          <p:nvPr>
            <p:ph type="sldNum" sz="quarter" idx="2"/>
          </p:nvPr>
        </p:nvSpPr>
        <p:spPr>
          <a:xfrm>
            <a:off x="23558500" y="12458700"/>
            <a:ext cx="27152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1" name="https://github.com/dpnolan/pandemic"/>
          <p:cNvSpPr txBox="1"/>
          <p:nvPr/>
        </p:nvSpPr>
        <p:spPr>
          <a:xfrm>
            <a:off x="9791700" y="129873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o give a summary in one slide..."/>
          <p:cNvSpPr txBox="1"/>
          <p:nvPr>
            <p:ph type="title"/>
          </p:nvPr>
        </p:nvSpPr>
        <p:spPr>
          <a:xfrm>
            <a:off x="1206500" y="609600"/>
            <a:ext cx="21971000" cy="1689100"/>
          </a:xfrm>
          <a:prstGeom prst="rect">
            <a:avLst/>
          </a:prstGeom>
        </p:spPr>
        <p:txBody>
          <a:bodyPr/>
          <a:lstStyle>
            <a:lvl1pPr defTabSz="2316421">
              <a:defRPr spc="-95" sz="9500"/>
            </a:lvl1pPr>
          </a:lstStyle>
          <a:p>
            <a:pPr/>
            <a:r>
              <a:t>To give a summary in one slide...</a:t>
            </a:r>
          </a:p>
        </p:txBody>
      </p:sp>
      <p:sp>
        <p:nvSpPr>
          <p:cNvPr id="204" name="Slide Number"/>
          <p:cNvSpPr txBox="1"/>
          <p:nvPr>
            <p:ph type="sldNum" sz="quarter" idx="2"/>
          </p:nvPr>
        </p:nvSpPr>
        <p:spPr>
          <a:xfrm>
            <a:off x="23558500" y="12458700"/>
            <a:ext cx="24765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5"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lide Number"/>
          <p:cNvSpPr txBox="1"/>
          <p:nvPr>
            <p:ph type="sldNum" sz="quarter" idx="2"/>
          </p:nvPr>
        </p:nvSpPr>
        <p:spPr>
          <a:xfrm>
            <a:off x="23558500" y="12458700"/>
            <a:ext cx="268479"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8" name="midvale3.png" descr="midvale3.png"/>
          <p:cNvPicPr>
            <a:picLocks noChangeAspect="1"/>
          </p:cNvPicPr>
          <p:nvPr/>
        </p:nvPicPr>
        <p:blipFill>
          <a:blip r:embed="rId2">
            <a:extLst/>
          </a:blip>
          <a:stretch>
            <a:fillRect/>
          </a:stretch>
        </p:blipFill>
        <p:spPr>
          <a:xfrm>
            <a:off x="5689600" y="2593933"/>
            <a:ext cx="13553494" cy="10296567"/>
          </a:xfrm>
          <a:prstGeom prst="rect">
            <a:avLst/>
          </a:prstGeom>
          <a:ln w="12700">
            <a:miter lim="400000"/>
          </a:ln>
        </p:spPr>
      </p:pic>
      <p:sp>
        <p:nvSpPr>
          <p:cNvPr id="209" name="Rectangle"/>
          <p:cNvSpPr/>
          <p:nvPr/>
        </p:nvSpPr>
        <p:spPr>
          <a:xfrm>
            <a:off x="15722600" y="7962900"/>
            <a:ext cx="1866900" cy="2311400"/>
          </a:xfrm>
          <a:prstGeom prst="rect">
            <a:avLst/>
          </a:prstGeom>
          <a:solidFill>
            <a:srgbClr val="FFFFFF"/>
          </a:solidFill>
          <a:ln w="25400">
            <a:solidFill>
              <a:schemeClr val="accent1"/>
            </a:solidFill>
          </a:ln>
        </p:spPr>
        <p:txBody>
          <a:bodyPr lIns="50800" tIns="50800" rIns="50800" bIns="50800" anchor="ctr"/>
          <a:lstStyle/>
          <a:p>
            <a:pPr/>
          </a:p>
        </p:txBody>
      </p:sp>
      <p:pic>
        <p:nvPicPr>
          <p:cNvPr id="210" name="stan_logo.png" descr="stan_logo.png"/>
          <p:cNvPicPr>
            <a:picLocks noChangeAspect="1"/>
          </p:cNvPicPr>
          <p:nvPr/>
        </p:nvPicPr>
        <p:blipFill>
          <a:blip r:embed="rId3">
            <a:extLst/>
          </a:blip>
          <a:stretch>
            <a:fillRect/>
          </a:stretch>
        </p:blipFill>
        <p:spPr>
          <a:xfrm>
            <a:off x="15811500" y="8048457"/>
            <a:ext cx="1701800" cy="2149643"/>
          </a:xfrm>
          <a:prstGeom prst="rect">
            <a:avLst/>
          </a:prstGeom>
          <a:ln w="12700">
            <a:miter lim="400000"/>
          </a:ln>
        </p:spPr>
      </p:pic>
      <p:sp>
        <p:nvSpPr>
          <p:cNvPr id="21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
        <p:nvSpPr>
          <p:cNvPr id="212" name="To give a summary in one slide..."/>
          <p:cNvSpPr txBox="1"/>
          <p:nvPr>
            <p:ph type="title"/>
          </p:nvPr>
        </p:nvSpPr>
        <p:spPr>
          <a:xfrm>
            <a:off x="1206500" y="609600"/>
            <a:ext cx="21971000" cy="1689100"/>
          </a:xfrm>
          <a:prstGeom prst="rect">
            <a:avLst/>
          </a:prstGeom>
        </p:spPr>
        <p:txBody>
          <a:bodyPr/>
          <a:lstStyle>
            <a:lvl1pPr defTabSz="2316421">
              <a:defRPr spc="-95" sz="9500"/>
            </a:lvl1pPr>
          </a:lstStyle>
          <a:p>
            <a:pPr/>
            <a:r>
              <a:t>To give a summary in one slide...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Literature Survey  - Popular Science"/>
          <p:cNvSpPr txBox="1"/>
          <p:nvPr>
            <p:ph type="title"/>
          </p:nvPr>
        </p:nvSpPr>
        <p:spPr>
          <a:prstGeom prst="rect">
            <a:avLst/>
          </a:prstGeom>
        </p:spPr>
        <p:txBody>
          <a:bodyPr/>
          <a:lstStyle>
            <a:lvl1pPr defTabSz="2316421">
              <a:defRPr spc="-95" sz="9500"/>
            </a:lvl1pPr>
          </a:lstStyle>
          <a:p>
            <a:pPr/>
            <a:r>
              <a:t>Literature Survey  - Popular Science</a:t>
            </a:r>
          </a:p>
        </p:txBody>
      </p:sp>
      <p:sp>
        <p:nvSpPr>
          <p:cNvPr id="215" name="Body Level One…"/>
          <p:cNvSpPr txBox="1"/>
          <p:nvPr>
            <p:ph type="body" idx="21"/>
          </p:nvPr>
        </p:nvSpPr>
        <p:spPr>
          <a:xfrm>
            <a:off x="1282841" y="2571989"/>
            <a:ext cx="13589001" cy="10566401"/>
          </a:xfrm>
          <a:prstGeom prst="rect">
            <a:avLst/>
          </a:prstGeom>
          <a:extLst>
            <a:ext uri="{C572A759-6A51-4108-AA02-DFA0A04FC94B}">
              <ma14:wrappingTextBoxFlag xmlns:ma14="http://schemas.microsoft.com/office/mac/drawingml/2011/main" val="1"/>
            </a:ext>
          </a:extLst>
        </p:spPr>
        <p:txBody>
          <a:bodyPr/>
          <a:lstStyle/>
          <a:p>
            <a:pPr marL="401052" indent="-401052" algn="just"/>
            <a:r>
              <a:t>Dr Adam Kucharski, mathematical epidemiologist at LSHTM and practising epidemiologist, including for COVID and Zika, and the BBC Pandemic project</a:t>
            </a:r>
          </a:p>
          <a:p>
            <a:pPr marL="401052" indent="-401052" algn="just"/>
            <a:r>
              <a:t>His popular science book on epidemic models was published on 13 February 2020</a:t>
            </a:r>
          </a:p>
          <a:p>
            <a:pPr marL="401052" indent="-401052" algn="just"/>
            <a:r>
              <a:t>One chapter covers the century-long history of the Susceptible-Infected-Recovered (SIR) epidemic models ads</a:t>
            </a:r>
          </a:p>
          <a:p>
            <a:pPr marL="401052" indent="-401052" algn="just"/>
            <a:r>
              <a:t>Epidemic models are also applied for other purposes including advertising messages, forecasting shootings in inner-city America</a:t>
            </a:r>
          </a:p>
        </p:txBody>
      </p:sp>
      <p:sp>
        <p:nvSpPr>
          <p:cNvPr id="216" name="Slide Number"/>
          <p:cNvSpPr txBox="1"/>
          <p:nvPr>
            <p:ph type="sldNum" sz="quarter" idx="2"/>
          </p:nvPr>
        </p:nvSpPr>
        <p:spPr>
          <a:xfrm>
            <a:off x="23558500" y="12458700"/>
            <a:ext cx="27178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7" name="kucharski.jpg" descr="kucharski.jpg"/>
          <p:cNvPicPr>
            <a:picLocks noChangeAspect="1"/>
          </p:cNvPicPr>
          <p:nvPr/>
        </p:nvPicPr>
        <p:blipFill>
          <a:blip r:embed="rId2">
            <a:extLst/>
          </a:blip>
          <a:stretch>
            <a:fillRect/>
          </a:stretch>
        </p:blipFill>
        <p:spPr>
          <a:xfrm>
            <a:off x="16659899" y="2574556"/>
            <a:ext cx="5428143" cy="8350988"/>
          </a:xfrm>
          <a:prstGeom prst="rect">
            <a:avLst/>
          </a:prstGeom>
          <a:ln w="12700">
            <a:miter lim="400000"/>
          </a:ln>
        </p:spPr>
      </p:pic>
      <p:sp>
        <p:nvSpPr>
          <p:cNvPr id="218"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Literature Survey - Maths Textbook"/>
          <p:cNvSpPr txBox="1"/>
          <p:nvPr>
            <p:ph type="title"/>
          </p:nvPr>
        </p:nvSpPr>
        <p:spPr>
          <a:prstGeom prst="rect">
            <a:avLst/>
          </a:prstGeom>
        </p:spPr>
        <p:txBody>
          <a:bodyPr/>
          <a:lstStyle>
            <a:lvl1pPr defTabSz="2316421">
              <a:defRPr spc="-95" sz="9500"/>
            </a:lvl1pPr>
          </a:lstStyle>
          <a:p>
            <a:pPr/>
            <a:r>
              <a:t>Literature Survey - Maths Textbook </a:t>
            </a:r>
          </a:p>
        </p:txBody>
      </p:sp>
      <p:sp>
        <p:nvSpPr>
          <p:cNvPr id="221" name="Body Level One…"/>
          <p:cNvSpPr txBox="1"/>
          <p:nvPr>
            <p:ph type="body" idx="21"/>
          </p:nvPr>
        </p:nvSpPr>
        <p:spPr>
          <a:xfrm>
            <a:off x="1422376" y="2330241"/>
            <a:ext cx="13589001" cy="10566401"/>
          </a:xfrm>
          <a:prstGeom prst="rect">
            <a:avLst/>
          </a:prstGeom>
          <a:extLst>
            <a:ext uri="{C572A759-6A51-4108-AA02-DFA0A04FC94B}">
              <ma14:wrappingTextBoxFlag xmlns:ma14="http://schemas.microsoft.com/office/mac/drawingml/2011/main" val="1"/>
            </a:ext>
          </a:extLst>
        </p:spPr>
        <p:txBody>
          <a:bodyPr/>
          <a:lstStyle/>
          <a:p>
            <a:pPr marL="340894" indent="-340894" algn="just" defTabSz="2072587">
              <a:spcBef>
                <a:spcPts val="3900"/>
              </a:spcBef>
              <a:defRPr sz="3400"/>
            </a:pPr>
            <a:r>
              <a:t>Vynnycky and White give a broad survey of the mathematical models in this 2010 textbook</a:t>
            </a:r>
          </a:p>
          <a:p>
            <a:pPr marL="340894" indent="-340894" algn="just" defTabSz="2072587">
              <a:spcBef>
                <a:spcPts val="3900"/>
              </a:spcBef>
              <a:defRPr sz="3400"/>
            </a:pPr>
            <a:r>
              <a:t>A mathematical textbook in the treatment, no code</a:t>
            </a:r>
          </a:p>
          <a:p>
            <a:pPr marL="340894" indent="-340894" algn="just" defTabSz="2072587">
              <a:spcBef>
                <a:spcPts val="3900"/>
              </a:spcBef>
              <a:defRPr sz="3400"/>
            </a:pPr>
            <a:r>
              <a:t>Starts with Susceptible-Infected-Recovered(SIR)  ‘compartment’ or ‘population’ models</a:t>
            </a:r>
          </a:p>
          <a:p>
            <a:pPr marL="340894" indent="-340894" algn="just" defTabSz="2072587">
              <a:spcBef>
                <a:spcPts val="3900"/>
              </a:spcBef>
              <a:defRPr sz="3400"/>
            </a:pPr>
            <a:r>
              <a:t>Difference and differential equations underly the SIR, first used more than 100 years ago to describe disease dynamics as a function of time by Kermack &amp; McKendrick, two Scottish public health doctors working in India</a:t>
            </a:r>
          </a:p>
          <a:p>
            <a:pPr marL="340894" indent="-340894" algn="just" defTabSz="2072587">
              <a:spcBef>
                <a:spcPts val="3900"/>
              </a:spcBef>
              <a:defRPr sz="3400"/>
            </a:pPr>
            <a:r>
              <a:t>Simplest models include no reinfections, drift in virus, vaccinations, travel, age or behavioural effects</a:t>
            </a:r>
          </a:p>
          <a:p>
            <a:pPr marL="340894" indent="-340894" algn="just" defTabSz="2072587">
              <a:spcBef>
                <a:spcPts val="3900"/>
              </a:spcBef>
              <a:defRPr sz="3400"/>
            </a:pPr>
            <a:r>
              <a:t>These work well to model the first stage of the epidemic</a:t>
            </a:r>
          </a:p>
          <a:p>
            <a:pPr marL="340894" indent="-340894" algn="just" defTabSz="2072587">
              <a:spcBef>
                <a:spcPts val="3900"/>
              </a:spcBef>
              <a:defRPr sz="3400"/>
            </a:pPr>
            <a:r>
              <a:t>Agent, geographic, non-homogenous models are more complex </a:t>
            </a:r>
          </a:p>
        </p:txBody>
      </p:sp>
      <p:sp>
        <p:nvSpPr>
          <p:cNvPr id="22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3" name="white.jpg" descr="white.jpg"/>
          <p:cNvPicPr>
            <a:picLocks noChangeAspect="1"/>
          </p:cNvPicPr>
          <p:nvPr/>
        </p:nvPicPr>
        <p:blipFill>
          <a:blip r:embed="rId2">
            <a:extLst/>
          </a:blip>
          <a:stretch>
            <a:fillRect/>
          </a:stretch>
        </p:blipFill>
        <p:spPr>
          <a:xfrm>
            <a:off x="16529356" y="2585118"/>
            <a:ext cx="6153840" cy="9280546"/>
          </a:xfrm>
          <a:prstGeom prst="rect">
            <a:avLst/>
          </a:prstGeom>
          <a:ln w="12700">
            <a:miter lim="400000"/>
          </a:ln>
        </p:spPr>
      </p:pic>
      <p:sp>
        <p:nvSpPr>
          <p:cNvPr id="224"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Literature Survey - Model Dynamic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Literature Survey - Model Dynamics</a:t>
            </a:r>
          </a:p>
        </p:txBody>
      </p:sp>
      <p:sp>
        <p:nvSpPr>
          <p:cNvPr id="227" name="Body Level One…"/>
          <p:cNvSpPr txBox="1"/>
          <p:nvPr>
            <p:ph type="body" idx="21"/>
          </p:nvPr>
        </p:nvSpPr>
        <p:spPr>
          <a:xfrm>
            <a:off x="668088" y="3210635"/>
            <a:ext cx="13932057" cy="8587316"/>
          </a:xfrm>
          <a:prstGeom prst="rect">
            <a:avLst/>
          </a:prstGeom>
          <a:extLst>
            <a:ext uri="{C572A759-6A51-4108-AA02-DFA0A04FC94B}">
              <ma14:wrappingTextBoxFlag xmlns:ma14="http://schemas.microsoft.com/office/mac/drawingml/2011/main" val="1"/>
            </a:ext>
          </a:extLst>
        </p:spPr>
        <p:txBody>
          <a:bodyPr/>
          <a:lstStyle/>
          <a:p>
            <a:pPr marL="401052" indent="-401052"/>
            <a:r>
              <a:t>Dynamics can be more complex: Work by Robert May et al. (1994) showed how chaotic, unpredictable behaviour arose within simple models without many inputs</a:t>
            </a:r>
          </a:p>
          <a:p>
            <a:pPr marL="401052" indent="-401052"/>
            <a:r>
              <a:t>Real-world experience, as May worked as UK Chief Scientific Advisor, including on Foot and Mouth epidemic and bird ‘flu</a:t>
            </a:r>
          </a:p>
        </p:txBody>
      </p:sp>
      <p:sp>
        <p:nvSpPr>
          <p:cNvPr id="228" name="Slide Number"/>
          <p:cNvSpPr txBox="1"/>
          <p:nvPr>
            <p:ph type="sldNum" sz="quarter" idx="2"/>
          </p:nvPr>
        </p:nvSpPr>
        <p:spPr>
          <a:xfrm>
            <a:off x="23558500" y="12458700"/>
            <a:ext cx="31699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9" name="may92.jpg" descr="may92.jpg"/>
          <p:cNvPicPr>
            <a:picLocks noChangeAspect="1"/>
          </p:cNvPicPr>
          <p:nvPr/>
        </p:nvPicPr>
        <p:blipFill>
          <a:blip r:embed="rId2">
            <a:extLst/>
          </a:blip>
          <a:stretch>
            <a:fillRect/>
          </a:stretch>
        </p:blipFill>
        <p:spPr>
          <a:xfrm>
            <a:off x="15971074" y="2722395"/>
            <a:ext cx="6121401" cy="9172259"/>
          </a:xfrm>
          <a:prstGeom prst="rect">
            <a:avLst/>
          </a:prstGeom>
          <a:ln w="12700">
            <a:miter lim="400000"/>
          </a:ln>
        </p:spPr>
      </p:pic>
      <p:sp>
        <p:nvSpPr>
          <p:cNvPr id="230"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Who and Where are the Global Irish?"/>
          <p:cNvSpPr txBox="1"/>
          <p:nvPr>
            <p:ph type="title"/>
          </p:nvPr>
        </p:nvSpPr>
        <p:spPr>
          <a:prstGeom prst="rect">
            <a:avLst/>
          </a:prstGeom>
        </p:spPr>
        <p:txBody>
          <a:bodyPr/>
          <a:lstStyle>
            <a:lvl1pPr defTabSz="2316421">
              <a:defRPr sz="9500"/>
            </a:lvl1pPr>
          </a:lstStyle>
          <a:p>
            <a:pPr/>
            <a:r>
              <a:t>Literature Review - Machine Learning</a:t>
            </a:r>
          </a:p>
        </p:txBody>
      </p:sp>
      <p:sp>
        <p:nvSpPr>
          <p:cNvPr id="233" name="Slide Number"/>
          <p:cNvSpPr txBox="1"/>
          <p:nvPr>
            <p:ph type="sldNum" sz="quarter" idx="2"/>
          </p:nvPr>
        </p:nvSpPr>
        <p:spPr>
          <a:xfrm>
            <a:off x="23558500" y="12458700"/>
            <a:ext cx="3563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4" name="geron3.jpg" descr="geron3.jpg"/>
          <p:cNvPicPr>
            <a:picLocks noChangeAspect="1"/>
          </p:cNvPicPr>
          <p:nvPr/>
        </p:nvPicPr>
        <p:blipFill>
          <a:blip r:embed="rId2">
            <a:extLst/>
          </a:blip>
          <a:stretch>
            <a:fillRect/>
          </a:stretch>
        </p:blipFill>
        <p:spPr>
          <a:xfrm>
            <a:off x="15752516" y="3591771"/>
            <a:ext cx="5751925" cy="7548458"/>
          </a:xfrm>
          <a:prstGeom prst="rect">
            <a:avLst/>
          </a:prstGeom>
          <a:ln w="12700">
            <a:miter lim="400000"/>
          </a:ln>
        </p:spPr>
      </p:pic>
      <p:sp>
        <p:nvSpPr>
          <p:cNvPr id="235" name="Should we use epidemic models or is an theoretical machine learning approach better?…"/>
          <p:cNvSpPr txBox="1"/>
          <p:nvPr/>
        </p:nvSpPr>
        <p:spPr>
          <a:xfrm>
            <a:off x="870867" y="3438753"/>
            <a:ext cx="12933914" cy="85943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457200" algn="just">
              <a:buSzPct val="100000"/>
              <a:buChar char="•"/>
              <a:defRPr sz="2800">
                <a:solidFill>
                  <a:srgbClr val="FFFFFF"/>
                </a:solidFill>
                <a:latin typeface="Graphik Light"/>
                <a:ea typeface="Graphik Light"/>
                <a:cs typeface="Graphik Light"/>
                <a:sym typeface="Graphik Light"/>
              </a:defRPr>
            </a:pPr>
            <a:r>
              <a:t>Should we use epidemic models or is an theoretical machine learning approach better? </a:t>
            </a:r>
          </a:p>
          <a:p>
            <a:pPr marL="457200" indent="-457200" algn="just">
              <a:buSzPct val="100000"/>
              <a:buChar char="•"/>
              <a:defRPr sz="2800">
                <a:solidFill>
                  <a:srgbClr val="FFFFFF"/>
                </a:solidFill>
                <a:latin typeface="Graphik Light"/>
                <a:ea typeface="Graphik Light"/>
                <a:cs typeface="Graphik Light"/>
                <a:sym typeface="Graphik Light"/>
              </a:defRPr>
            </a:pPr>
            <a:r>
              <a:t>The Irish Epidemiological Modelling Advisory Group  (IEMAG) was an independent team building models for the National Public Health Emergency Team (NPHET).  </a:t>
            </a:r>
          </a:p>
          <a:p>
            <a:pPr marL="457200" indent="-457200" algn="just">
              <a:buSzPct val="100000"/>
              <a:buChar char="•"/>
              <a:defRPr sz="2800">
                <a:solidFill>
                  <a:srgbClr val="FFFFFF"/>
                </a:solidFill>
                <a:latin typeface="Graphik Light"/>
                <a:ea typeface="Graphik Light"/>
                <a:cs typeface="Graphik Light"/>
                <a:sym typeface="Graphik Light"/>
              </a:defRPr>
            </a:pPr>
            <a:r>
              <a:t>Politicians gathered other data and models to challenge or ‘peer review’ the IEMAG's work.  FF health minister Stephen Donnelly wanted more of a ‘big data’ and ‘artificial intelligence’ approach</a:t>
            </a:r>
          </a:p>
          <a:p>
            <a:pPr marL="457200" indent="-457200" algn="just">
              <a:buSzPct val="100000"/>
              <a:buChar char="•"/>
              <a:defRPr sz="2800">
                <a:solidFill>
                  <a:srgbClr val="FFFFFF"/>
                </a:solidFill>
                <a:latin typeface="Graphik Light"/>
                <a:ea typeface="Graphik Light"/>
                <a:cs typeface="Graphik Light"/>
                <a:sym typeface="Graphik Light"/>
              </a:defRPr>
            </a:pPr>
            <a:r>
              <a:t>External consulting firms supported this under the “1 Government Centre” programme.  They wanted to access many forms of data including card payments, CCTV and mobile phone network mobility data.  </a:t>
            </a:r>
          </a:p>
          <a:p>
            <a:pPr marL="457200" indent="-457200" algn="just">
              <a:buSzPct val="100000"/>
              <a:buChar char="•"/>
              <a:defRPr sz="2800">
                <a:solidFill>
                  <a:srgbClr val="FFFFFF"/>
                </a:solidFill>
                <a:latin typeface="Graphik Light"/>
                <a:ea typeface="Graphik Light"/>
                <a:cs typeface="Graphik Light"/>
                <a:sym typeface="Graphik Light"/>
              </a:defRPr>
            </a:pPr>
            <a:r>
              <a:t>IEMAG and NPHET did not back down and the alternative model results supported its scenarios </a:t>
            </a:r>
          </a:p>
        </p:txBody>
      </p:sp>
      <p:sp>
        <p:nvSpPr>
          <p:cNvPr id="23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The SIR Model - Specific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SIR Model - Specification</a:t>
            </a:r>
          </a:p>
        </p:txBody>
      </p:sp>
      <p:sp>
        <p:nvSpPr>
          <p:cNvPr id="239" name="Body Level One…"/>
          <p:cNvSpPr txBox="1"/>
          <p:nvPr>
            <p:ph type="body" idx="21"/>
          </p:nvPr>
        </p:nvSpPr>
        <p:spPr>
          <a:xfrm>
            <a:off x="770088" y="6645996"/>
            <a:ext cx="22615224" cy="5659807"/>
          </a:xfrm>
          <a:prstGeom prst="rect">
            <a:avLst/>
          </a:prstGeom>
          <a:extLst>
            <a:ext uri="{C572A759-6A51-4108-AA02-DFA0A04FC94B}">
              <ma14:wrappingTextBoxFlag xmlns:ma14="http://schemas.microsoft.com/office/mac/drawingml/2011/main" val="1"/>
            </a:ext>
          </a:extLst>
        </p:spPr>
        <p:txBody>
          <a:bodyPr/>
          <a:lstStyle/>
          <a:p>
            <a:pPr marL="252663" indent="-252663" defTabSz="1536152">
              <a:spcBef>
                <a:spcPts val="2900"/>
              </a:spcBef>
              <a:defRPr sz="2520"/>
            </a:pPr>
            <a:r>
              <a:t>These divide the population into homogenous groups or compartments representing stages in the infection process</a:t>
            </a:r>
          </a:p>
          <a:p>
            <a:pPr marL="252663" indent="-252663" defTabSz="1536152">
              <a:spcBef>
                <a:spcPts val="2900"/>
              </a:spcBef>
              <a:defRPr sz="2520"/>
            </a:pPr>
            <a:r>
              <a:t>SIR is commonly used for ‘flu, stages are different for each disease e.g. SEIR, SIS, etc. </a:t>
            </a:r>
          </a:p>
          <a:p>
            <a:pPr marL="252663" indent="-252663" defTabSz="1536152">
              <a:spcBef>
                <a:spcPts val="2900"/>
              </a:spcBef>
              <a:defRPr sz="2520"/>
            </a:pPr>
            <a:r>
              <a:t>Use difference and differential equations, math tools were available 100 years ago</a:t>
            </a:r>
          </a:p>
          <a:p>
            <a:pPr marL="252663" indent="-252663" defTabSz="1536152">
              <a:spcBef>
                <a:spcPts val="2900"/>
              </a:spcBef>
              <a:defRPr sz="2520"/>
            </a:pPr>
            <a:r>
              <a:rPr b="1">
                <a:latin typeface="Graphik"/>
                <a:ea typeface="Graphik"/>
                <a:cs typeface="Graphik"/>
                <a:sym typeface="Graphik"/>
              </a:rPr>
              <a:t>N</a:t>
            </a:r>
            <a:r>
              <a:t> is total population modelled, for example the population of the Republic of Ireland</a:t>
            </a:r>
          </a:p>
          <a:p>
            <a:pPr marL="252663" indent="-252663" defTabSz="1536152">
              <a:spcBef>
                <a:spcPts val="2900"/>
              </a:spcBef>
              <a:defRPr sz="2520"/>
            </a:pPr>
            <a:r>
              <a:rPr b="1">
                <a:latin typeface="Graphik"/>
                <a:ea typeface="Graphik"/>
                <a:cs typeface="Graphik"/>
                <a:sym typeface="Graphik"/>
              </a:rPr>
              <a:t>S_t</a:t>
            </a:r>
            <a:r>
              <a:t>, Susceptible may be infected, a portion become so based on beta, 𝜷, the transmission rate, the constant rate of infectious contact between individuals</a:t>
            </a:r>
          </a:p>
          <a:p>
            <a:pPr marL="252663" indent="-252663" defTabSz="1536152">
              <a:spcBef>
                <a:spcPts val="2900"/>
              </a:spcBef>
              <a:defRPr sz="2520"/>
            </a:pPr>
            <a:r>
              <a:rPr b="1">
                <a:latin typeface="Graphik"/>
                <a:ea typeface="Graphik"/>
                <a:cs typeface="Graphik"/>
                <a:sym typeface="Graphik"/>
              </a:rPr>
              <a:t>I_t</a:t>
            </a:r>
            <a:r>
              <a:t>, Infected have caught the disease and show symptoms and are infectious</a:t>
            </a:r>
          </a:p>
          <a:p>
            <a:pPr marL="252663" indent="-252663" defTabSz="1536152">
              <a:spcBef>
                <a:spcPts val="2900"/>
              </a:spcBef>
              <a:defRPr sz="2520"/>
            </a:pPr>
            <a:r>
              <a:rPr b="1">
                <a:latin typeface="Graphik"/>
                <a:ea typeface="Graphik"/>
                <a:cs typeface="Graphik"/>
                <a:sym typeface="Graphik"/>
              </a:rPr>
              <a:t>R_t</a:t>
            </a:r>
            <a:r>
              <a:t>, Recovered, have got better or die at the recovery rate gamma, 𝜸, from among the Infected I_t.  </a:t>
            </a:r>
          </a:p>
        </p:txBody>
      </p:sp>
      <p:sp>
        <p:nvSpPr>
          <p:cNvPr id="240" name="Slide Number"/>
          <p:cNvSpPr txBox="1"/>
          <p:nvPr>
            <p:ph type="sldNum" sz="quarter" idx="2"/>
          </p:nvPr>
        </p:nvSpPr>
        <p:spPr>
          <a:xfrm>
            <a:off x="23558500" y="12458700"/>
            <a:ext cx="3690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41" name="SIR.png" descr="SIR.png"/>
          <p:cNvPicPr>
            <a:picLocks noChangeAspect="1"/>
          </p:cNvPicPr>
          <p:nvPr/>
        </p:nvPicPr>
        <p:blipFill>
          <a:blip r:embed="rId2">
            <a:extLst/>
          </a:blip>
          <a:stretch>
            <a:fillRect/>
          </a:stretch>
        </p:blipFill>
        <p:spPr>
          <a:xfrm>
            <a:off x="1879272" y="3205435"/>
            <a:ext cx="12737272" cy="3165654"/>
          </a:xfrm>
          <a:prstGeom prst="rect">
            <a:avLst/>
          </a:prstGeom>
          <a:ln w="12700">
            <a:miter lim="400000"/>
          </a:ln>
        </p:spPr>
      </p:pic>
      <p:pic>
        <p:nvPicPr>
          <p:cNvPr id="242" name="equations.png" descr="equations.png"/>
          <p:cNvPicPr>
            <a:picLocks noChangeAspect="1"/>
          </p:cNvPicPr>
          <p:nvPr/>
        </p:nvPicPr>
        <p:blipFill>
          <a:blip r:embed="rId3">
            <a:extLst/>
          </a:blip>
          <a:stretch>
            <a:fillRect/>
          </a:stretch>
        </p:blipFill>
        <p:spPr>
          <a:xfrm>
            <a:off x="16095200" y="3205435"/>
            <a:ext cx="3176570" cy="3165654"/>
          </a:xfrm>
          <a:prstGeom prst="rect">
            <a:avLst/>
          </a:prstGeom>
          <a:ln w="12700">
            <a:miter lim="400000"/>
          </a:ln>
        </p:spPr>
      </p:pic>
      <p:sp>
        <p:nvSpPr>
          <p:cNvPr id="243"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The SIR Ordinary Differential Equation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SIR Ordinary Differential Equations</a:t>
            </a:r>
          </a:p>
        </p:txBody>
      </p:sp>
      <p:sp>
        <p:nvSpPr>
          <p:cNvPr id="246" name="Body Level One…"/>
          <p:cNvSpPr txBox="1"/>
          <p:nvPr>
            <p:ph type="body" idx="21"/>
          </p:nvPr>
        </p:nvSpPr>
        <p:spPr>
          <a:xfrm>
            <a:off x="770088" y="6645996"/>
            <a:ext cx="22615224" cy="5659807"/>
          </a:xfrm>
          <a:prstGeom prst="rect">
            <a:avLst/>
          </a:prstGeom>
          <a:extLst>
            <a:ext uri="{C572A759-6A51-4108-AA02-DFA0A04FC94B}">
              <ma14:wrappingTextBoxFlag xmlns:ma14="http://schemas.microsoft.com/office/mac/drawingml/2011/main" val="1"/>
            </a:ext>
          </a:extLst>
        </p:spPr>
        <p:txBody>
          <a:bodyPr/>
          <a:lstStyle/>
          <a:p>
            <a:pPr marL="300789" indent="-300789" defTabSz="1828753">
              <a:spcBef>
                <a:spcPts val="3500"/>
              </a:spcBef>
              <a:defRPr sz="3000"/>
            </a:pPr>
            <a:r>
              <a:rPr b="1">
                <a:latin typeface="Graphik"/>
                <a:ea typeface="Graphik"/>
                <a:cs typeface="Graphik"/>
                <a:sym typeface="Graphik"/>
              </a:rPr>
              <a:t>S</a:t>
            </a:r>
            <a:r>
              <a:t> reduced by new infections, calculated by infected as proportion of Beta, 𝜷, the transmission rate, the constant rate of infectious contact between individuals, scaled by S(t) and I(t)</a:t>
            </a:r>
          </a:p>
          <a:p>
            <a:pPr marL="300789" indent="-300789" defTabSz="1828753">
              <a:spcBef>
                <a:spcPts val="3500"/>
              </a:spcBef>
              <a:defRPr sz="3000"/>
            </a:pPr>
            <a:r>
              <a:rPr b="1">
                <a:latin typeface="Graphik"/>
                <a:ea typeface="Graphik"/>
                <a:cs typeface="Graphik"/>
                <a:sym typeface="Graphik"/>
              </a:rPr>
              <a:t>I_t</a:t>
            </a:r>
            <a:r>
              <a:t>, Infected increase with new infections, transmit the infection in turn, reduced by recovery </a:t>
            </a:r>
          </a:p>
          <a:p>
            <a:pPr marL="300789" indent="-300789" defTabSz="1828753">
              <a:spcBef>
                <a:spcPts val="3500"/>
              </a:spcBef>
              <a:defRPr sz="3000"/>
            </a:pPr>
            <a:r>
              <a:rPr b="1">
                <a:latin typeface="Graphik"/>
                <a:ea typeface="Graphik"/>
                <a:cs typeface="Graphik"/>
                <a:sym typeface="Graphik"/>
              </a:rPr>
              <a:t>R_t</a:t>
            </a:r>
            <a:r>
              <a:t>, Recovered, have got better or die at a rate gamma, 𝜸, among the Infected </a:t>
            </a:r>
          </a:p>
          <a:p>
            <a:pPr marL="300789" indent="-300789" defTabSz="1828753">
              <a:spcBef>
                <a:spcPts val="3500"/>
              </a:spcBef>
              <a:defRPr sz="3000"/>
            </a:pPr>
            <a:r>
              <a:rPr b="1">
                <a:latin typeface="Graphik"/>
                <a:ea typeface="Graphik"/>
                <a:cs typeface="Graphik"/>
                <a:sym typeface="Graphik"/>
              </a:rPr>
              <a:t>N</a:t>
            </a:r>
            <a:r>
              <a:t>, the total population at start time, and N = S + I + R</a:t>
            </a:r>
          </a:p>
          <a:p>
            <a:pPr marL="300789" indent="-300789" defTabSz="1828753">
              <a:spcBef>
                <a:spcPts val="3500"/>
              </a:spcBef>
              <a:defRPr sz="3000"/>
            </a:pPr>
            <a:r>
              <a:t>Personal characteristics - age, gender, recent travel, location, usually dealt with by separate models, or hierarchical model, but can be included as a model variable</a:t>
            </a:r>
          </a:p>
        </p:txBody>
      </p:sp>
      <p:sp>
        <p:nvSpPr>
          <p:cNvPr id="247" name="Slide Number"/>
          <p:cNvSpPr txBox="1"/>
          <p:nvPr>
            <p:ph type="sldNum" sz="quarter" idx="2"/>
          </p:nvPr>
        </p:nvSpPr>
        <p:spPr>
          <a:xfrm>
            <a:off x="23558500" y="12458700"/>
            <a:ext cx="36728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48" name="SIR.png" descr="SIR.png"/>
          <p:cNvPicPr>
            <a:picLocks noChangeAspect="1"/>
          </p:cNvPicPr>
          <p:nvPr/>
        </p:nvPicPr>
        <p:blipFill>
          <a:blip r:embed="rId2">
            <a:extLst/>
          </a:blip>
          <a:stretch>
            <a:fillRect/>
          </a:stretch>
        </p:blipFill>
        <p:spPr>
          <a:xfrm>
            <a:off x="1879272" y="3205435"/>
            <a:ext cx="12737272" cy="3165654"/>
          </a:xfrm>
          <a:prstGeom prst="rect">
            <a:avLst/>
          </a:prstGeom>
          <a:ln w="12700">
            <a:miter lim="400000"/>
          </a:ln>
        </p:spPr>
      </p:pic>
      <p:pic>
        <p:nvPicPr>
          <p:cNvPr id="249" name="equations.png" descr="equations.png"/>
          <p:cNvPicPr>
            <a:picLocks noChangeAspect="1"/>
          </p:cNvPicPr>
          <p:nvPr/>
        </p:nvPicPr>
        <p:blipFill>
          <a:blip r:embed="rId3">
            <a:extLst/>
          </a:blip>
          <a:stretch>
            <a:fillRect/>
          </a:stretch>
        </p:blipFill>
        <p:spPr>
          <a:xfrm>
            <a:off x="16667760" y="3205435"/>
            <a:ext cx="3176570" cy="3165654"/>
          </a:xfrm>
          <a:prstGeom prst="rect">
            <a:avLst/>
          </a:prstGeom>
          <a:ln w="12700">
            <a:miter lim="400000"/>
          </a:ln>
        </p:spPr>
      </p:pic>
      <p:sp>
        <p:nvSpPr>
          <p:cNvPr id="250"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Who and Where are the Global Irish?"/>
          <p:cNvSpPr txBox="1"/>
          <p:nvPr>
            <p:ph type="title"/>
          </p:nvPr>
        </p:nvSpPr>
        <p:spPr>
          <a:prstGeom prst="rect">
            <a:avLst/>
          </a:prstGeom>
        </p:spPr>
        <p:txBody>
          <a:bodyPr/>
          <a:lstStyle>
            <a:lvl1pPr defTabSz="2200599">
              <a:defRPr spc="-95" sz="9025"/>
            </a:lvl1pPr>
          </a:lstStyle>
          <a:p>
            <a:pPr/>
            <a:r>
              <a:t>A Model to Answer the Research Question</a:t>
            </a:r>
          </a:p>
        </p:txBody>
      </p:sp>
      <p:sp>
        <p:nvSpPr>
          <p:cNvPr id="253" name="Northern Ireland: CRN, PUL and unaffiliated, Irish, British, Northern Irish total 1.9m…"/>
          <p:cNvSpPr txBox="1"/>
          <p:nvPr>
            <p:ph type="body" idx="1"/>
          </p:nvPr>
        </p:nvSpPr>
        <p:spPr>
          <a:xfrm>
            <a:off x="1206500" y="2729993"/>
            <a:ext cx="21971000" cy="8256014"/>
          </a:xfrm>
          <a:prstGeom prst="rect">
            <a:avLst/>
          </a:prstGeom>
        </p:spPr>
        <p:txBody>
          <a:bodyPr lIns="50800" tIns="50800" rIns="50800" bIns="50800"/>
          <a:lstStyle/>
          <a:p>
            <a:pPr marL="401052" indent="-401052" defTabSz="2438337">
              <a:spcBef>
                <a:spcPts val="4700"/>
              </a:spcBef>
              <a:buSzPct val="100000"/>
              <a:buChar char="•"/>
              <a:defRPr sz="4000">
                <a:latin typeface="Graphik Light"/>
                <a:ea typeface="Graphik Light"/>
                <a:cs typeface="Graphik Light"/>
                <a:sym typeface="Graphik Light"/>
              </a:defRPr>
            </a:pPr>
          </a:p>
          <a:p>
            <a:pPr marL="401052" indent="-401052" defTabSz="2438337">
              <a:spcBef>
                <a:spcPts val="4700"/>
              </a:spcBef>
              <a:buSzPct val="100000"/>
              <a:buChar char="•"/>
              <a:defRPr sz="4000">
                <a:latin typeface="Graphik Light"/>
                <a:ea typeface="Graphik Light"/>
                <a:cs typeface="Graphik Light"/>
                <a:sym typeface="Graphik Light"/>
              </a:defRPr>
            </a:pPr>
            <a:r>
              <a:t>What is the past and present and possible future state of the epidemic?  </a:t>
            </a:r>
          </a:p>
          <a:p>
            <a:pPr marL="401052" indent="-401052" defTabSz="2438337">
              <a:spcBef>
                <a:spcPts val="4700"/>
              </a:spcBef>
              <a:buSzPct val="100000"/>
              <a:buChar char="•"/>
              <a:defRPr sz="4000">
                <a:latin typeface="Graphik Light"/>
                <a:ea typeface="Graphik Light"/>
                <a:cs typeface="Graphik Light"/>
                <a:sym typeface="Graphik Light"/>
              </a:defRPr>
            </a:pPr>
            <a:r>
              <a:t>Inputs are the known observed infected numbers, I(t), observed by testing or symptoms</a:t>
            </a:r>
          </a:p>
          <a:p>
            <a:pPr marL="401052" indent="-401052" defTabSz="2438337">
              <a:spcBef>
                <a:spcPts val="4700"/>
              </a:spcBef>
              <a:buSzPct val="100000"/>
              <a:buChar char="•"/>
              <a:defRPr sz="4000">
                <a:latin typeface="Graphik Light"/>
                <a:ea typeface="Graphik Light"/>
                <a:cs typeface="Graphik Light"/>
                <a:sym typeface="Graphik Light"/>
              </a:defRPr>
            </a:pPr>
            <a:r>
              <a:t>Candidate models will start with the simple SIR </a:t>
            </a:r>
          </a:p>
          <a:p>
            <a:pPr marL="401052" indent="-401052" defTabSz="2438337">
              <a:spcBef>
                <a:spcPts val="4700"/>
              </a:spcBef>
              <a:buSzPct val="100000"/>
              <a:buChar char="•"/>
              <a:defRPr sz="4000">
                <a:latin typeface="Graphik Light"/>
                <a:ea typeface="Graphik Light"/>
                <a:cs typeface="Graphik Light"/>
                <a:sym typeface="Graphik Light"/>
              </a:defRPr>
            </a:pPr>
            <a:r>
              <a:t>Task is estimation, output for decision-makers are the SIR parameters</a:t>
            </a:r>
          </a:p>
          <a:p>
            <a:pPr marL="401052" indent="-401052" defTabSz="2438337">
              <a:spcBef>
                <a:spcPts val="4700"/>
              </a:spcBef>
              <a:buSzPct val="100000"/>
              <a:buChar char="•"/>
              <a:defRPr sz="4000">
                <a:latin typeface="Graphik Light"/>
                <a:ea typeface="Graphik Light"/>
                <a:cs typeface="Graphik Light"/>
                <a:sym typeface="Graphik Light"/>
              </a:defRPr>
            </a:pPr>
            <a:r>
              <a:t>Estimation done with Bayesian methods</a:t>
            </a:r>
          </a:p>
        </p:txBody>
      </p:sp>
      <p:sp>
        <p:nvSpPr>
          <p:cNvPr id="254" name="Slide Number"/>
          <p:cNvSpPr txBox="1"/>
          <p:nvPr>
            <p:ph type="sldNum" sz="quarter" idx="2"/>
          </p:nvPr>
        </p:nvSpPr>
        <p:spPr>
          <a:xfrm>
            <a:off x="23558500" y="12458700"/>
            <a:ext cx="36474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5"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SIR Model Dynamic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Dynamics</a:t>
            </a:r>
          </a:p>
        </p:txBody>
      </p:sp>
      <p:sp>
        <p:nvSpPr>
          <p:cNvPr id="258" name="Body Level One…"/>
          <p:cNvSpPr txBox="1"/>
          <p:nvPr>
            <p:ph type="body" idx="21"/>
          </p:nvPr>
        </p:nvSpPr>
        <p:spPr>
          <a:xfrm>
            <a:off x="668088" y="3299700"/>
            <a:ext cx="12145852" cy="8587316"/>
          </a:xfrm>
          <a:prstGeom prst="rect">
            <a:avLst/>
          </a:prstGeom>
          <a:extLst>
            <a:ext uri="{C572A759-6A51-4108-AA02-DFA0A04FC94B}">
              <ma14:wrappingTextBoxFlag xmlns:ma14="http://schemas.microsoft.com/office/mac/drawingml/2011/main" val="1"/>
            </a:ext>
          </a:extLst>
        </p:spPr>
        <p:txBody>
          <a:bodyPr/>
          <a:lstStyle/>
          <a:p>
            <a:pPr marL="248652" indent="-248652" defTabSz="1511769">
              <a:spcBef>
                <a:spcPts val="2900"/>
              </a:spcBef>
              <a:defRPr sz="2480"/>
            </a:pPr>
            <a:r>
              <a:t>PYMC directory, Jupyter Notebook 2</a:t>
            </a:r>
          </a:p>
          <a:p>
            <a:pPr marL="248652" indent="-248652" defTabSz="1511769">
              <a:spcBef>
                <a:spcPts val="2900"/>
              </a:spcBef>
              <a:defRPr sz="2480"/>
            </a:pPr>
            <a:r>
              <a:rPr b="1">
                <a:latin typeface="Graphik"/>
                <a:ea typeface="Graphik"/>
                <a:cs typeface="Graphik"/>
                <a:sym typeface="Graphik"/>
              </a:rPr>
              <a:t>R_0 </a:t>
            </a:r>
            <a:r>
              <a:t>(‘R zero’) is the average number of infections from the first infected person in the population</a:t>
            </a:r>
          </a:p>
          <a:p>
            <a:pPr marL="248652" indent="-248652" defTabSz="1511769">
              <a:spcBef>
                <a:spcPts val="2900"/>
              </a:spcBef>
              <a:defRPr sz="2480"/>
            </a:pPr>
            <a:r>
              <a:rPr b="1">
                <a:latin typeface="Graphik"/>
                <a:ea typeface="Graphik"/>
                <a:cs typeface="Graphik"/>
                <a:sym typeface="Graphik"/>
              </a:rPr>
              <a:t>R_0</a:t>
            </a:r>
            <a:r>
              <a:t> = β/𝝲 = 0.5/( 1/3) * (S/N) = 1.5</a:t>
            </a:r>
          </a:p>
          <a:p>
            <a:pPr marL="248652" indent="-248652" defTabSz="1511769">
              <a:spcBef>
                <a:spcPts val="2900"/>
              </a:spcBef>
              <a:defRPr sz="2480"/>
            </a:pPr>
            <a:r>
              <a:t>COVID began around 4.  Seasonal 'flu typically is 1.5 to 2, measles around 20</a:t>
            </a:r>
          </a:p>
          <a:p>
            <a:pPr marL="248652" indent="-248652" defTabSz="1511769">
              <a:spcBef>
                <a:spcPts val="2900"/>
              </a:spcBef>
              <a:defRPr sz="2480"/>
            </a:pPr>
            <a:r>
              <a:rPr b="1">
                <a:latin typeface="Graphik"/>
                <a:ea typeface="Graphik"/>
                <a:cs typeface="Graphik"/>
                <a:sym typeface="Graphik"/>
              </a:rPr>
              <a:t>R_t</a:t>
            </a:r>
            <a:r>
              <a:t> or ‘R number’ is the variable used in forecasting future cases</a:t>
            </a:r>
          </a:p>
          <a:p>
            <a:pPr marL="248652" indent="-248652" defTabSz="1511769">
              <a:spcBef>
                <a:spcPts val="2900"/>
              </a:spcBef>
              <a:defRPr sz="2480"/>
            </a:pPr>
            <a:r>
              <a:t>IF R_t &lt;1, then the infection is not growing, if R_t&gt;1, it will grow</a:t>
            </a:r>
          </a:p>
          <a:p>
            <a:pPr marL="248652" indent="-248652" defTabSz="1511769">
              <a:spcBef>
                <a:spcPts val="2900"/>
              </a:spcBef>
              <a:defRPr sz="2480"/>
            </a:pPr>
            <a:r>
              <a:t>Over time, R_t declines as more of the population pass through infection, as S declines</a:t>
            </a:r>
          </a:p>
          <a:p>
            <a:pPr marL="248652" indent="-248652" defTabSz="1511769">
              <a:spcBef>
                <a:spcPts val="2900"/>
              </a:spcBef>
              <a:defRPr sz="2480"/>
            </a:pPr>
            <a:r>
              <a:t>In our example, when S/N = 2/3 then, R_t=1, called the Herd Immunity Threshold.  The epidemic will no longer grow, which vaccines or reinfections.  Vaccination strategy targets this.  </a:t>
            </a:r>
          </a:p>
          <a:p>
            <a:pPr marL="248652" indent="-248652" defTabSz="1511769">
              <a:spcBef>
                <a:spcPts val="2900"/>
              </a:spcBef>
              <a:defRPr sz="2480"/>
            </a:pPr>
            <a:r>
              <a:t>‘Contagion’ movie explainer: </a:t>
            </a:r>
            <a:r>
              <a:rPr u="sng">
                <a:solidFill>
                  <a:srgbClr val="0000FF"/>
                </a:solidFill>
                <a:uFill>
                  <a:solidFill>
                    <a:srgbClr val="0000FF"/>
                  </a:solidFill>
                </a:uFill>
                <a:hlinkClick r:id="rId2" invalidUrl="" action="" tgtFrame="" tooltip="" history="1" highlightClick="0" endSnd="0"/>
              </a:rPr>
              <a:t>https://www.youtube.com/watch?v=X-YR3UlH3aA</a:t>
            </a:r>
          </a:p>
        </p:txBody>
      </p:sp>
      <p:sp>
        <p:nvSpPr>
          <p:cNvPr id="259" name="Slide Number"/>
          <p:cNvSpPr txBox="1"/>
          <p:nvPr>
            <p:ph type="sldNum" sz="quarter" idx="2"/>
          </p:nvPr>
        </p:nvSpPr>
        <p:spPr>
          <a:xfrm>
            <a:off x="23558499" y="12458700"/>
            <a:ext cx="372873"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60" name="R_n.png" descr="R_n.png"/>
          <p:cNvPicPr>
            <a:picLocks noChangeAspect="1"/>
          </p:cNvPicPr>
          <p:nvPr/>
        </p:nvPicPr>
        <p:blipFill>
          <a:blip r:embed="rId3">
            <a:extLst/>
          </a:blip>
          <a:stretch>
            <a:fillRect/>
          </a:stretch>
        </p:blipFill>
        <p:spPr>
          <a:xfrm>
            <a:off x="13795509" y="4047630"/>
            <a:ext cx="9297324" cy="7091456"/>
          </a:xfrm>
          <a:prstGeom prst="rect">
            <a:avLst/>
          </a:prstGeom>
          <a:ln w="12700">
            <a:miter lim="400000"/>
          </a:ln>
        </p:spPr>
      </p:pic>
      <p:sp>
        <p:nvSpPr>
          <p:cNvPr id="26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IR Model Dynamics"/>
          <p:cNvSpPr txBox="1"/>
          <p:nvPr>
            <p:ph type="title"/>
          </p:nvPr>
        </p:nvSpPr>
        <p:spPr>
          <a:xfrm>
            <a:off x="1206500" y="647723"/>
            <a:ext cx="21971000" cy="1689101"/>
          </a:xfrm>
          <a:prstGeom prst="rect">
            <a:avLst/>
          </a:prstGeom>
        </p:spPr>
        <p:txBody>
          <a:bodyPr/>
          <a:lstStyle>
            <a:lvl1pPr defTabSz="784225">
              <a:lnSpc>
                <a:spcPct val="100000"/>
              </a:lnSpc>
              <a:defRPr spc="0" sz="9500"/>
            </a:lvl1pPr>
          </a:lstStyle>
          <a:p>
            <a:pPr>
              <a:defRPr sz="5225"/>
            </a:pPr>
            <a:r>
              <a:rPr sz="9500"/>
              <a:t>SIR Model Dynamics</a:t>
            </a:r>
          </a:p>
        </p:txBody>
      </p:sp>
      <p:sp>
        <p:nvSpPr>
          <p:cNvPr id="264" name="Body Level One…"/>
          <p:cNvSpPr txBox="1"/>
          <p:nvPr>
            <p:ph type="body" idx="21"/>
          </p:nvPr>
        </p:nvSpPr>
        <p:spPr>
          <a:xfrm>
            <a:off x="744429" y="3261529"/>
            <a:ext cx="10629874" cy="8446491"/>
          </a:xfrm>
          <a:prstGeom prst="rect">
            <a:avLst/>
          </a:prstGeom>
          <a:extLst>
            <a:ext uri="{C572A759-6A51-4108-AA02-DFA0A04FC94B}">
              <ma14:wrappingTextBoxFlag xmlns:ma14="http://schemas.microsoft.com/office/mac/drawingml/2011/main" val="1"/>
            </a:ext>
          </a:extLst>
        </p:spPr>
        <p:txBody>
          <a:bodyPr/>
          <a:lstStyle/>
          <a:p>
            <a:pPr marL="385010" indent="-385010" defTabSz="2340804">
              <a:spcBef>
                <a:spcPts val="4500"/>
              </a:spcBef>
              <a:defRPr sz="3839"/>
            </a:pPr>
            <a:r>
              <a:t>Dynamics - typical changes over time, growth, rise and fall in infections</a:t>
            </a:r>
          </a:p>
          <a:p>
            <a:pPr marL="385010" indent="-385010" defTabSz="2340804">
              <a:spcBef>
                <a:spcPts val="4500"/>
              </a:spcBef>
              <a:defRPr sz="3839"/>
            </a:pPr>
            <a:r>
              <a:t>See Jupyter workbook 1</a:t>
            </a:r>
          </a:p>
          <a:p>
            <a:pPr marL="385010" indent="-385010" defTabSz="2340804">
              <a:spcBef>
                <a:spcPts val="4500"/>
              </a:spcBef>
              <a:defRPr sz="3839"/>
            </a:pPr>
            <a:r>
              <a:t>Flu example based on ‘flu in Ireland, β = 0.5, 𝝲 = 1/3, N = 4.9 million people</a:t>
            </a:r>
          </a:p>
          <a:p>
            <a:pPr marL="385010" indent="-385010" defTabSz="2340804">
              <a:spcBef>
                <a:spcPts val="4500"/>
              </a:spcBef>
              <a:defRPr sz="3839"/>
            </a:pPr>
            <a:r>
              <a:t>Susceptible become Infected, the Infected Recover or die</a:t>
            </a:r>
          </a:p>
          <a:p>
            <a:pPr marL="385010" indent="-385010" defTabSz="2340804">
              <a:spcBef>
                <a:spcPts val="4500"/>
              </a:spcBef>
              <a:defRPr sz="3839"/>
            </a:pPr>
            <a:r>
              <a:t>Infections peak, but as a small part of the total population at any one time</a:t>
            </a:r>
          </a:p>
        </p:txBody>
      </p:sp>
      <p:sp>
        <p:nvSpPr>
          <p:cNvPr id="265" name="Slide Number"/>
          <p:cNvSpPr txBox="1"/>
          <p:nvPr>
            <p:ph type="sldNum" sz="quarter" idx="2"/>
          </p:nvPr>
        </p:nvSpPr>
        <p:spPr>
          <a:xfrm>
            <a:off x="23558500" y="12458700"/>
            <a:ext cx="3489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6" name="Text"/>
          <p:cNvSpPr txBox="1"/>
          <p:nvPr/>
        </p:nvSpPr>
        <p:spPr>
          <a:xfrm>
            <a:off x="11622278" y="6479539"/>
            <a:ext cx="1139445" cy="756921"/>
          </a:xfrm>
          <a:prstGeom prst="rect">
            <a:avLst/>
          </a:prstGeom>
          <a:ln w="12700">
            <a:miter lim="400000"/>
          </a:ln>
        </p:spPr>
        <p:txBody>
          <a:bodyPr wrap="none" lIns="50800" tIns="50800" rIns="50800" bIns="50800" anchor="ctr">
            <a:spAutoFit/>
          </a:bodyPr>
          <a:lstStyle/>
          <a:p>
            <a:pPr/>
          </a:p>
        </p:txBody>
      </p:sp>
      <p:pic>
        <p:nvPicPr>
          <p:cNvPr id="267" name="SImul1.png" descr="SImul1.png"/>
          <p:cNvPicPr>
            <a:picLocks noChangeAspect="1"/>
          </p:cNvPicPr>
          <p:nvPr/>
        </p:nvPicPr>
        <p:blipFill>
          <a:blip r:embed="rId2">
            <a:extLst/>
          </a:blip>
          <a:stretch>
            <a:fillRect/>
          </a:stretch>
        </p:blipFill>
        <p:spPr>
          <a:xfrm>
            <a:off x="14353903" y="2093790"/>
            <a:ext cx="7215862" cy="5840176"/>
          </a:xfrm>
          <a:prstGeom prst="rect">
            <a:avLst/>
          </a:prstGeom>
          <a:ln w="12700">
            <a:miter lim="400000"/>
          </a:ln>
        </p:spPr>
      </p:pic>
      <p:pic>
        <p:nvPicPr>
          <p:cNvPr id="268" name="infect1.png" descr="infect1.png"/>
          <p:cNvPicPr>
            <a:picLocks noChangeAspect="1"/>
          </p:cNvPicPr>
          <p:nvPr/>
        </p:nvPicPr>
        <p:blipFill>
          <a:blip r:embed="rId3">
            <a:extLst/>
          </a:blip>
          <a:stretch>
            <a:fillRect/>
          </a:stretch>
        </p:blipFill>
        <p:spPr>
          <a:xfrm>
            <a:off x="14353903" y="7977141"/>
            <a:ext cx="7215862" cy="5219475"/>
          </a:xfrm>
          <a:prstGeom prst="rect">
            <a:avLst/>
          </a:prstGeom>
          <a:ln w="12700">
            <a:miter lim="400000"/>
          </a:ln>
        </p:spPr>
      </p:pic>
      <p:sp>
        <p:nvSpPr>
          <p:cNvPr id="269" name="https://github.com/dpnolan/pandemic"/>
          <p:cNvSpPr txBox="1"/>
          <p:nvPr/>
        </p:nvSpPr>
        <p:spPr>
          <a:xfrm>
            <a:off x="8318500" y="130635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IR Model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Estimation</a:t>
            </a:r>
          </a:p>
        </p:txBody>
      </p:sp>
      <p:sp>
        <p:nvSpPr>
          <p:cNvPr id="272" name="Body Level One…"/>
          <p:cNvSpPr txBox="1"/>
          <p:nvPr>
            <p:ph type="body" idx="21"/>
          </p:nvPr>
        </p:nvSpPr>
        <p:spPr>
          <a:xfrm>
            <a:off x="642640" y="2994334"/>
            <a:ext cx="22615224" cy="8587316"/>
          </a:xfrm>
          <a:prstGeom prst="rect">
            <a:avLst/>
          </a:prstGeom>
          <a:extLst>
            <a:ext uri="{C572A759-6A51-4108-AA02-DFA0A04FC94B}">
              <ma14:wrappingTextBoxFlag xmlns:ma14="http://schemas.microsoft.com/office/mac/drawingml/2011/main" val="1"/>
            </a:ext>
          </a:extLst>
        </p:spPr>
        <p:txBody>
          <a:bodyPr/>
          <a:lstStyle/>
          <a:p>
            <a:pPr marL="401052" indent="-401052"/>
            <a:r>
              <a:t>Textbooks such as Vynnycky &amp; White (2010) and a shelf full of others in Trinity’s library do not cover estimation, to my surprise</a:t>
            </a:r>
          </a:p>
          <a:p>
            <a:pPr marL="401052" indent="-401052"/>
            <a:r>
              <a:t>Searching during 2020 for an estimation of a simple population model, I found almost nothing published</a:t>
            </a:r>
          </a:p>
          <a:p>
            <a:pPr marL="401052" indent="-401052"/>
            <a:r>
              <a:t>One simple approach was to solve the Ordinary Differential Equation (ODE) system</a:t>
            </a:r>
          </a:p>
          <a:p>
            <a:pPr marL="401052" indent="-401052"/>
            <a:r>
              <a:t>One non-specialist, some Russian developers at Microsoft and students, implemented this in Python using scipy.integrate.odeint to model and scipy.optimize to fit the data up to June 2020: See Petrova et al. at </a:t>
            </a:r>
            <a:r>
              <a:rPr u="sng">
                <a:solidFill>
                  <a:srgbClr val="0000FF"/>
                </a:solidFill>
                <a:uFill>
                  <a:solidFill>
                    <a:srgbClr val="0000FF"/>
                  </a:solidFill>
                </a:uFill>
                <a:hlinkClick r:id="rId2" invalidUrl="" action="" tgtFrame="" tooltip="" history="1" highlightClick="0" endSnd="0"/>
              </a:rPr>
              <a:t>https://github.com/shwars/SlidingSIR/tree/master</a:t>
            </a:r>
          </a:p>
        </p:txBody>
      </p:sp>
      <p:sp>
        <p:nvSpPr>
          <p:cNvPr id="273" name="Slide Number"/>
          <p:cNvSpPr txBox="1"/>
          <p:nvPr>
            <p:ph type="sldNum" sz="quarter" idx="2"/>
          </p:nvPr>
        </p:nvSpPr>
        <p:spPr>
          <a:xfrm>
            <a:off x="23558500" y="12458700"/>
            <a:ext cx="36982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4"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Bayesian Estimation - How and Why?"/>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Bayesian Estimation - How and Why?</a:t>
            </a:r>
          </a:p>
        </p:txBody>
      </p:sp>
      <p:sp>
        <p:nvSpPr>
          <p:cNvPr id="277" name="Body Level One…"/>
          <p:cNvSpPr txBox="1"/>
          <p:nvPr>
            <p:ph type="body" idx="21"/>
          </p:nvPr>
        </p:nvSpPr>
        <p:spPr>
          <a:xfrm>
            <a:off x="502681" y="3019781"/>
            <a:ext cx="22615224" cy="7988186"/>
          </a:xfrm>
          <a:prstGeom prst="rect">
            <a:avLst/>
          </a:prstGeom>
          <a:extLst>
            <a:ext uri="{C572A759-6A51-4108-AA02-DFA0A04FC94B}">
              <ma14:wrappingTextBoxFlag xmlns:ma14="http://schemas.microsoft.com/office/mac/drawingml/2011/main" val="1"/>
            </a:ext>
          </a:extLst>
        </p:spPr>
        <p:txBody>
          <a:bodyPr/>
          <a:lstStyle/>
          <a:p>
            <a:pPr marL="348915" indent="-348915" defTabSz="2121354">
              <a:spcBef>
                <a:spcPts val="4000"/>
              </a:spcBef>
              <a:defRPr sz="3480"/>
            </a:pPr>
            <a:r>
              <a:t>Model the parameters as random variables to be estimated</a:t>
            </a:r>
          </a:p>
          <a:p>
            <a:pPr marL="348915" indent="-348915" defTabSz="2121354">
              <a:spcBef>
                <a:spcPts val="4000"/>
              </a:spcBef>
              <a:defRPr sz="3480"/>
            </a:pPr>
            <a:r>
              <a:t>From the perspective of early to mid 2020, the underlying parameters for COVID were only going to become clear over time as evidence was gathered and published</a:t>
            </a:r>
          </a:p>
          <a:p>
            <a:pPr marL="348915" indent="-348915" defTabSz="2121354">
              <a:spcBef>
                <a:spcPts val="4000"/>
              </a:spcBef>
              <a:defRPr sz="3480"/>
            </a:pPr>
            <a:r>
              <a:t>Making assumptions about distributions would be premature</a:t>
            </a:r>
          </a:p>
          <a:p>
            <a:pPr marL="348915" indent="-348915" defTabSz="2121354">
              <a:spcBef>
                <a:spcPts val="4000"/>
              </a:spcBef>
              <a:defRPr sz="3480"/>
            </a:pPr>
            <a:r>
              <a:t>Some informative data is available early on and we best incorporate it into our analysis</a:t>
            </a:r>
          </a:p>
          <a:p>
            <a:pPr marL="348915" indent="-348915" defTabSz="2121354">
              <a:spcBef>
                <a:spcPts val="4000"/>
              </a:spcBef>
              <a:defRPr sz="3480"/>
            </a:pPr>
            <a:r>
              <a:t>Expert opinion should be incorporated where useful</a:t>
            </a:r>
          </a:p>
          <a:p>
            <a:pPr marL="348915" indent="-348915" defTabSz="2121354">
              <a:spcBef>
                <a:spcPts val="4000"/>
              </a:spcBef>
              <a:defRPr sz="3480"/>
            </a:pPr>
            <a:r>
              <a:t>Also, our uncertainty and updates to it as more and data is observed should be updated over time</a:t>
            </a:r>
          </a:p>
          <a:p>
            <a:pPr marL="348915" indent="-348915" defTabSz="2121354">
              <a:spcBef>
                <a:spcPts val="4000"/>
              </a:spcBef>
              <a:defRPr sz="3480"/>
            </a:pPr>
            <a:r>
              <a:t>All these argue for a Bayesian rather than a simple ODE approach</a:t>
            </a:r>
          </a:p>
        </p:txBody>
      </p:sp>
      <p:sp>
        <p:nvSpPr>
          <p:cNvPr id="278" name="Slide Number"/>
          <p:cNvSpPr txBox="1"/>
          <p:nvPr>
            <p:ph type="sldNum" sz="quarter" idx="2"/>
          </p:nvPr>
        </p:nvSpPr>
        <p:spPr>
          <a:xfrm>
            <a:off x="23558500" y="12458700"/>
            <a:ext cx="370587"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9"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Case Studies - GitHub ‘papers’ directory"/>
          <p:cNvSpPr txBox="1"/>
          <p:nvPr>
            <p:ph type="title"/>
          </p:nvPr>
        </p:nvSpPr>
        <p:spPr>
          <a:prstGeom prst="rect">
            <a:avLst/>
          </a:prstGeom>
        </p:spPr>
        <p:txBody>
          <a:bodyPr/>
          <a:lstStyle>
            <a:lvl1pPr defTabSz="2316421">
              <a:defRPr spc="-95" sz="9500"/>
            </a:lvl1pPr>
          </a:lstStyle>
          <a:p>
            <a:pPr/>
            <a:r>
              <a:t>Case Studies - GitHub ‘papers’ directory</a:t>
            </a:r>
          </a:p>
        </p:txBody>
      </p:sp>
      <p:sp>
        <p:nvSpPr>
          <p:cNvPr id="282" name="Body Level One…"/>
          <p:cNvSpPr txBox="1"/>
          <p:nvPr>
            <p:ph type="body" idx="21"/>
          </p:nvPr>
        </p:nvSpPr>
        <p:spPr>
          <a:xfrm>
            <a:off x="1206500" y="2330241"/>
            <a:ext cx="18127235" cy="10566401"/>
          </a:xfrm>
          <a:prstGeom prst="rect">
            <a:avLst/>
          </a:prstGeom>
          <a:extLst>
            <a:ext uri="{C572A759-6A51-4108-AA02-DFA0A04FC94B}">
              <ma14:wrappingTextBoxFlag xmlns:ma14="http://schemas.microsoft.com/office/mac/drawingml/2011/main" val="1"/>
            </a:ext>
          </a:extLst>
        </p:spPr>
        <p:txBody>
          <a:bodyPr/>
          <a:lstStyle/>
          <a:p>
            <a:pPr marL="244642" indent="-244642" defTabSz="1487386">
              <a:spcBef>
                <a:spcPts val="2800"/>
              </a:spcBef>
              <a:defRPr sz="2440"/>
            </a:pPr>
            <a:r>
              <a:t>Grinsztajn et al. (2021) work in mathematical epidemiology and published a model estimating population models for COVID, working through from simple SIR, this is the closes l</a:t>
            </a:r>
          </a:p>
          <a:p>
            <a:pPr lvl="3" marL="941872" indent="-244642" defTabSz="1487386">
              <a:spcBef>
                <a:spcPts val="2800"/>
              </a:spcBef>
              <a:defRPr sz="2440"/>
            </a:pPr>
            <a:r>
              <a:t>Paper at </a:t>
            </a:r>
            <a:r>
              <a:rPr u="sng">
                <a:solidFill>
                  <a:srgbClr val="0000FF"/>
                </a:solidFill>
                <a:uFill>
                  <a:solidFill>
                    <a:srgbClr val="0000FF"/>
                  </a:solidFill>
                </a:uFill>
                <a:hlinkClick r:id="rId2" invalidUrl="" action="" tgtFrame="" tooltip="" history="1" highlightClick="0" endSnd="0"/>
              </a:rPr>
              <a:t>https://doi.org/10.1002/sim.9164</a:t>
            </a:r>
          </a:p>
          <a:p>
            <a:pPr lvl="3" marL="941872" indent="-244642" defTabSz="1487386">
              <a:spcBef>
                <a:spcPts val="2800"/>
              </a:spcBef>
              <a:defRPr sz="2440"/>
            </a:pPr>
            <a:r>
              <a:t>Code + data </a:t>
            </a:r>
            <a:r>
              <a:rPr u="sng">
                <a:solidFill>
                  <a:srgbClr val="0000FF"/>
                </a:solidFill>
                <a:uFill>
                  <a:solidFill>
                    <a:srgbClr val="0000FF"/>
                  </a:solidFill>
                </a:uFill>
                <a:hlinkClick r:id="rId3" invalidUrl="" action="" tgtFrame="" tooltip="" history="1" highlightClick="0" endSnd="0"/>
              </a:rPr>
              <a:t>https://github.com/charlesm93/disease_transmission_workflow/tree/main</a:t>
            </a:r>
            <a:r>
              <a:t> </a:t>
            </a:r>
          </a:p>
          <a:p>
            <a:pPr lvl="3" marL="941872" indent="-244642" defTabSz="1487386">
              <a:spcBef>
                <a:spcPts val="2800"/>
              </a:spcBef>
              <a:defRPr sz="2440"/>
            </a:pPr>
            <a:r>
              <a:t>also in the STAN documentation </a:t>
            </a:r>
            <a:r>
              <a:rPr u="sng">
                <a:solidFill>
                  <a:srgbClr val="0000FF"/>
                </a:solidFill>
                <a:uFill>
                  <a:solidFill>
                    <a:srgbClr val="0000FF"/>
                  </a:solidFill>
                </a:uFill>
                <a:hlinkClick r:id="rId4" invalidUrl="" action="" tgtFrame="" tooltip="" history="1" highlightClick="0" endSnd="0"/>
              </a:rPr>
              <a:t>https://mc-stan.org/learn-stan/case-studies/boarding_school_case_study.html</a:t>
            </a:r>
          </a:p>
          <a:p>
            <a:pPr marL="244642" indent="-244642" defTabSz="1487386">
              <a:spcBef>
                <a:spcPts val="2800"/>
              </a:spcBef>
              <a:defRPr sz="2440"/>
            </a:pPr>
            <a:r>
              <a:t>A small, simple dataset on a 1978 ‘flu outbreak in an English school is commonly used in this literature, including by Grinsztajin</a:t>
            </a:r>
          </a:p>
          <a:p>
            <a:pPr marL="244642" indent="-244642" defTabSz="1487386">
              <a:spcBef>
                <a:spcPts val="2800"/>
              </a:spcBef>
              <a:defRPr sz="2440"/>
            </a:pPr>
            <a:r>
              <a:t>Paper </a:t>
            </a:r>
            <a:r>
              <a:rPr u="sng">
                <a:solidFill>
                  <a:srgbClr val="0000FF"/>
                </a:solidFill>
                <a:uFill>
                  <a:solidFill>
                    <a:srgbClr val="0000FF"/>
                  </a:solidFill>
                </a:uFill>
                <a:hlinkClick r:id="rId5" invalidUrl="" action="" tgtFrame="" tooltip="" history="1" highlightClick="0" endSnd="0"/>
              </a:rPr>
              <a:t>https://pmc.ncbi.nlm.nih.gov/articles/PMC1603269/pdf/brmedj00115-0064.pdf</a:t>
            </a:r>
          </a:p>
          <a:p>
            <a:pPr marL="244642" indent="-244642" defTabSz="1487386">
              <a:spcBef>
                <a:spcPts val="2800"/>
              </a:spcBef>
              <a:defRPr sz="2440"/>
            </a:pPr>
            <a:r>
              <a:t>Data </a:t>
            </a:r>
            <a:r>
              <a:rPr u="sng">
                <a:solidFill>
                  <a:srgbClr val="0000FF"/>
                </a:solidFill>
                <a:uFill>
                  <a:solidFill>
                    <a:srgbClr val="0000FF"/>
                  </a:solidFill>
                </a:uFill>
                <a:hlinkClick r:id="rId6" invalidUrl="" action="" tgtFrame="" tooltip="" history="1" highlightClick="0" endSnd="0"/>
              </a:rPr>
              <a:t>https://www.kaggle.com/datasets/antonymgitau/influenza-england-1978-school-csv</a:t>
            </a:r>
            <a:r>
              <a:t> </a:t>
            </a:r>
          </a:p>
          <a:p>
            <a:pPr marL="244642" indent="-244642" defTabSz="1487386">
              <a:spcBef>
                <a:spcPts val="2800"/>
              </a:spcBef>
              <a:defRPr sz="2440"/>
            </a:pPr>
            <a:r>
              <a:t>IEMAG published a second edition of their model methodology in October 2020, updating an earlier model from May 2020.  </a:t>
            </a:r>
          </a:p>
          <a:p>
            <a:pPr lvl="2" marL="709462" indent="-244642" defTabSz="1487386">
              <a:spcBef>
                <a:spcPts val="2800"/>
              </a:spcBef>
              <a:defRPr sz="2440"/>
            </a:pPr>
            <a:r>
              <a:t> Gleeson JP, Murphy TB, O’Brien J, O’Sullivan D. (2021) “A population-level SEIR model for COVID-19 scenarios (updated),”  </a:t>
            </a:r>
            <a:r>
              <a:rPr u="sng">
                <a:solidFill>
                  <a:srgbClr val="0000FF"/>
                </a:solidFill>
                <a:uFill>
                  <a:solidFill>
                    <a:srgbClr val="0000FF"/>
                  </a:solidFill>
                </a:uFill>
                <a:hlinkClick r:id="rId7" invalidUrl="" action="" tgtFrame="" tooltip="" history="1" highlightClick="0" endSnd="0"/>
              </a:rPr>
              <a:t>https://assets.gov.ie/122667/8379f0cc-5be3-4c89-9a1e-3b7328ae03af.pdf</a:t>
            </a:r>
          </a:p>
          <a:p>
            <a:pPr lvl="2" marL="709462" indent="-244642" defTabSz="1487386">
              <a:spcBef>
                <a:spcPts val="2800"/>
              </a:spcBef>
              <a:defRPr sz="2440"/>
            </a:pPr>
            <a:r>
              <a:t>Code and data </a:t>
            </a:r>
            <a:r>
              <a:rPr u="sng">
                <a:solidFill>
                  <a:srgbClr val="0000FF"/>
                </a:solidFill>
                <a:uFill>
                  <a:solidFill>
                    <a:srgbClr val="0000FF"/>
                  </a:solidFill>
                </a:uFill>
                <a:hlinkClick r:id="rId8" invalidUrl="" action="" tgtFrame="" tooltip="" history="1" highlightClick="0" endSnd="0"/>
              </a:rPr>
              <a:t>https://github.com/obrienjoey/ireland_covid_modelling</a:t>
            </a:r>
          </a:p>
          <a:p>
            <a:pPr lvl="2" marL="709462" indent="-244642" defTabSz="1487386">
              <a:spcBef>
                <a:spcPts val="2800"/>
              </a:spcBef>
              <a:defRPr sz="2440"/>
            </a:pPr>
            <a:r>
              <a:t>Full CIDR dataset </a:t>
            </a:r>
            <a:r>
              <a:rPr u="sng">
                <a:solidFill>
                  <a:srgbClr val="0000FF"/>
                </a:solidFill>
                <a:uFill>
                  <a:solidFill>
                    <a:srgbClr val="0000FF"/>
                  </a:solidFill>
                </a:uFill>
                <a:hlinkClick r:id="rId9" invalidUrl="" action="" tgtFrame="" tooltip="" history="1" highlightClick="0" endSnd="0"/>
              </a:rPr>
              <a:t>19.geohive.ie/datasets/d8eb52d56273413b84b0187a4e9117be_0/about</a:t>
            </a:r>
            <a:endParaRPr sz="732">
              <a:latin typeface="Times Roman"/>
              <a:ea typeface="Times Roman"/>
              <a:cs typeface="Times Roman"/>
              <a:sym typeface="Times Roman"/>
            </a:endParaRPr>
          </a:p>
          <a:p>
            <a:pPr marL="244642" indent="-244642" defTabSz="1487386">
              <a:spcBef>
                <a:spcPts val="2800"/>
              </a:spcBef>
              <a:defRPr sz="2440"/>
            </a:pPr>
            <a:r>
              <a:t>A wider historical literature review is in Lit Review Epidemic Models.pdf in the GitHub</a:t>
            </a:r>
          </a:p>
        </p:txBody>
      </p:sp>
      <p:sp>
        <p:nvSpPr>
          <p:cNvPr id="283" name="Slide Number"/>
          <p:cNvSpPr txBox="1"/>
          <p:nvPr>
            <p:ph type="sldNum" sz="quarter" idx="2"/>
          </p:nvPr>
        </p:nvSpPr>
        <p:spPr>
          <a:xfrm>
            <a:off x="23558500" y="12458700"/>
            <a:ext cx="42672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4"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10" invalidUrl="" action="" tgtFrame="" tooltip="" history="1" highlightClick="0" endSnd="0"/>
              </a:defRPr>
            </a:lvl1pPr>
          </a:lstStyle>
          <a:p>
            <a:pPr>
              <a:defRPr u="none">
                <a:uFillTx/>
              </a:defRPr>
            </a:pPr>
            <a:r>
              <a:rPr u="sng">
                <a:uFill>
                  <a:solidFill>
                    <a:srgbClr val="0000FF"/>
                  </a:solidFill>
                </a:uFill>
                <a:hlinkClick r:id="rId10"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Bayesian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Bayesian Estimation</a:t>
            </a:r>
          </a:p>
        </p:txBody>
      </p:sp>
      <p:sp>
        <p:nvSpPr>
          <p:cNvPr id="287" name="Body Level One…"/>
          <p:cNvSpPr txBox="1"/>
          <p:nvPr>
            <p:ph type="body" idx="21"/>
          </p:nvPr>
        </p:nvSpPr>
        <p:spPr>
          <a:xfrm>
            <a:off x="566511" y="2703176"/>
            <a:ext cx="16637001" cy="10795001"/>
          </a:xfrm>
          <a:prstGeom prst="rect">
            <a:avLst/>
          </a:prstGeom>
          <a:extLst>
            <a:ext uri="{C572A759-6A51-4108-AA02-DFA0A04FC94B}">
              <ma14:wrappingTextBoxFlag xmlns:ma14="http://schemas.microsoft.com/office/mac/drawingml/2011/main" val="1"/>
            </a:ext>
          </a:extLst>
        </p:spPr>
        <p:txBody>
          <a:bodyPr/>
          <a:lstStyle/>
          <a:p>
            <a:pPr marL="320842" indent="-320842" algn="just" defTabSz="1950670">
              <a:spcBef>
                <a:spcPts val="3700"/>
              </a:spcBef>
              <a:defRPr sz="3200"/>
            </a:pPr>
            <a:r>
              <a:t>Count discrete, non-independent events, which occur in clusters in time or space </a:t>
            </a:r>
          </a:p>
          <a:p>
            <a:pPr marL="320842" indent="-320842" algn="just" defTabSz="1950670">
              <a:spcBef>
                <a:spcPts val="3700"/>
              </a:spcBef>
              <a:defRPr sz="3200"/>
            </a:pPr>
            <a:r>
              <a:t>The first version of the IEMAG model in May 2020 used the Poisson distribution.</a:t>
            </a:r>
          </a:p>
          <a:p>
            <a:pPr marL="320842" indent="-320842" algn="just" defTabSz="1950670">
              <a:spcBef>
                <a:spcPts val="3700"/>
              </a:spcBef>
              <a:defRPr sz="3200"/>
            </a:pPr>
            <a:r>
              <a:t> Exponential distribution is often used model time between outbreaks, where 𝝺 parameter is the time between events and also the mean of the Poisson distribution of events per year.   </a:t>
            </a:r>
          </a:p>
          <a:p>
            <a:pPr marL="320842" indent="-320842" algn="just" defTabSz="1950670">
              <a:spcBef>
                <a:spcPts val="3700"/>
              </a:spcBef>
              <a:defRPr sz="3200"/>
            </a:pPr>
            <a:r>
              <a:t>Negative Binomial distribution was used instead to count the cases: was used instead in the data and model from November 2020, probably to deal with greater variation in the pandemic case numbers than the Poisson, which assumes mean and variance are the same value. </a:t>
            </a:r>
          </a:p>
          <a:p>
            <a:pPr marL="320842" indent="-320842" algn="just" defTabSz="1950670">
              <a:spcBef>
                <a:spcPts val="3700"/>
              </a:spcBef>
              <a:defRPr sz="3200"/>
            </a:pPr>
            <a:r>
              <a:t>Inverse overdispersion with exponential distribution with mean 1/𝝲.  </a:t>
            </a:r>
          </a:p>
          <a:p>
            <a:pPr marL="320842" indent="-320842" algn="just" defTabSz="1950670">
              <a:spcBef>
                <a:spcPts val="3700"/>
              </a:spcBef>
              <a:defRPr sz="3200"/>
            </a:pPr>
            <a:r>
              <a:t>NB uses I(t) as the mean and a parameter for inverse overdispersion phi, 𝞍 i.e. smaller phi means more dispersion </a:t>
            </a:r>
          </a:p>
          <a:p>
            <a:pPr marL="320842" indent="-320842" algn="just" defTabSz="1950670">
              <a:spcBef>
                <a:spcPts val="3700"/>
              </a:spcBef>
              <a:defRPr sz="3200"/>
            </a:pPr>
            <a:r>
              <a:t>𝝱 and 𝝲 are assumed non-negative and different priors were used in repeated estimates. </a:t>
            </a:r>
          </a:p>
        </p:txBody>
      </p:sp>
      <p:sp>
        <p:nvSpPr>
          <p:cNvPr id="288" name="Slide Number"/>
          <p:cNvSpPr txBox="1"/>
          <p:nvPr>
            <p:ph type="sldNum" sz="quarter" idx="2"/>
          </p:nvPr>
        </p:nvSpPr>
        <p:spPr>
          <a:xfrm>
            <a:off x="23558500" y="12458700"/>
            <a:ext cx="3563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9" name="equations.png" descr="equations.png"/>
          <p:cNvPicPr>
            <a:picLocks noChangeAspect="1"/>
          </p:cNvPicPr>
          <p:nvPr/>
        </p:nvPicPr>
        <p:blipFill>
          <a:blip r:embed="rId2">
            <a:extLst/>
          </a:blip>
          <a:stretch>
            <a:fillRect/>
          </a:stretch>
        </p:blipFill>
        <p:spPr>
          <a:xfrm>
            <a:off x="18168210" y="4632714"/>
            <a:ext cx="4904909" cy="4888054"/>
          </a:xfrm>
          <a:prstGeom prst="rect">
            <a:avLst/>
          </a:prstGeom>
          <a:ln w="12700">
            <a:miter lim="400000"/>
          </a:ln>
        </p:spPr>
      </p:pic>
      <p:sp>
        <p:nvSpPr>
          <p:cNvPr id="290"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Workflow"/>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Workflow</a:t>
            </a:r>
          </a:p>
        </p:txBody>
      </p:sp>
      <p:sp>
        <p:nvSpPr>
          <p:cNvPr id="293" name="Body Level One…"/>
          <p:cNvSpPr txBox="1"/>
          <p:nvPr>
            <p:ph type="body" idx="21"/>
          </p:nvPr>
        </p:nvSpPr>
        <p:spPr>
          <a:xfrm>
            <a:off x="693747" y="3490553"/>
            <a:ext cx="16292428" cy="7988186"/>
          </a:xfrm>
          <a:prstGeom prst="rect">
            <a:avLst/>
          </a:prstGeom>
          <a:extLst>
            <a:ext uri="{C572A759-6A51-4108-AA02-DFA0A04FC94B}">
              <ma14:wrappingTextBoxFlag xmlns:ma14="http://schemas.microsoft.com/office/mac/drawingml/2011/main" val="1"/>
            </a:ext>
          </a:extLst>
        </p:spPr>
        <p:txBody>
          <a:bodyPr/>
          <a:lstStyle/>
          <a:p>
            <a:pPr marL="304800" indent="-304800" defTabSz="1853136">
              <a:spcBef>
                <a:spcPts val="3500"/>
              </a:spcBef>
              <a:defRPr sz="3040"/>
            </a:pPr>
            <a:r>
              <a:t>Martin (2024) and PyMC core developer Thomas Wiecki suggest something like</a:t>
            </a:r>
            <a:br/>
            <a:r>
              <a:t> </a:t>
            </a:r>
            <a:r>
              <a:rPr u="sng">
                <a:solidFill>
                  <a:srgbClr val="0000FF"/>
                </a:solidFill>
                <a:uFill>
                  <a:solidFill>
                    <a:srgbClr val="0000FF"/>
                  </a:solidFill>
                </a:uFill>
                <a:hlinkClick r:id="rId2" invalidUrl="" action="" tgtFrame="" tooltip="" history="1" highlightClick="0" endSnd="0"/>
              </a:rPr>
              <a:t>https://gist.github.com/twiecki/43def0aa16ee6a23f822a124eb429958</a:t>
            </a:r>
          </a:p>
          <a:p>
            <a:pPr marL="406400" indent="-406400" defTabSz="1853136">
              <a:spcBef>
                <a:spcPts val="3500"/>
              </a:spcBef>
              <a:buAutoNum type="arabicPeriod" startAt="1"/>
              <a:defRPr sz="3040"/>
            </a:pPr>
            <a:r>
              <a:t>Plot the data</a:t>
            </a:r>
          </a:p>
          <a:p>
            <a:pPr marL="406400" indent="-406400" defTabSz="1853136">
              <a:spcBef>
                <a:spcPts val="3500"/>
              </a:spcBef>
              <a:buAutoNum type="arabicPeriod" startAt="1"/>
              <a:defRPr sz="3040"/>
            </a:pPr>
            <a:r>
              <a:t>Build model</a:t>
            </a:r>
          </a:p>
          <a:p>
            <a:pPr marL="406400" indent="-406400" defTabSz="1853136">
              <a:spcBef>
                <a:spcPts val="3500"/>
              </a:spcBef>
              <a:buAutoNum type="arabicPeriod" startAt="1"/>
              <a:defRPr sz="3040"/>
            </a:pPr>
            <a:r>
              <a:t>Check prior predictions</a:t>
            </a:r>
          </a:p>
          <a:p>
            <a:pPr marL="406400" indent="-406400" defTabSz="1853136">
              <a:spcBef>
                <a:spcPts val="3500"/>
              </a:spcBef>
              <a:buAutoNum type="arabicPeriod" startAt="1"/>
              <a:defRPr sz="3040"/>
            </a:pPr>
            <a:r>
              <a:t>Fit models</a:t>
            </a:r>
          </a:p>
          <a:p>
            <a:pPr marL="406400" indent="-406400" defTabSz="1853136">
              <a:spcBef>
                <a:spcPts val="3500"/>
              </a:spcBef>
              <a:buAutoNum type="arabicPeriod" startAt="1"/>
              <a:defRPr sz="3040"/>
            </a:pPr>
            <a:r>
              <a:t>Assess convergence</a:t>
            </a:r>
          </a:p>
          <a:p>
            <a:pPr marL="406400" indent="-406400" defTabSz="1853136">
              <a:spcBef>
                <a:spcPts val="3500"/>
              </a:spcBef>
              <a:buAutoNum type="arabicPeriod" startAt="1"/>
              <a:defRPr sz="3040"/>
            </a:pPr>
            <a:r>
              <a:t>Run posterior predictive check</a:t>
            </a:r>
          </a:p>
          <a:p>
            <a:pPr marL="406400" indent="-406400" defTabSz="1853136">
              <a:spcBef>
                <a:spcPts val="3500"/>
              </a:spcBef>
              <a:buAutoNum type="arabicPeriod" startAt="1"/>
              <a:defRPr sz="3040"/>
            </a:pPr>
            <a:r>
              <a:t>Improve model</a:t>
            </a:r>
          </a:p>
        </p:txBody>
      </p:sp>
      <p:sp>
        <p:nvSpPr>
          <p:cNvPr id="294" name="Slide Number"/>
          <p:cNvSpPr txBox="1"/>
          <p:nvPr>
            <p:ph type="sldNum" sz="quarter" idx="2"/>
          </p:nvPr>
        </p:nvSpPr>
        <p:spPr>
          <a:xfrm>
            <a:off x="23558500" y="12458700"/>
            <a:ext cx="3957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5" name="Martin.png" descr="Martin.png"/>
          <p:cNvPicPr>
            <a:picLocks noChangeAspect="1"/>
          </p:cNvPicPr>
          <p:nvPr/>
        </p:nvPicPr>
        <p:blipFill>
          <a:blip r:embed="rId3">
            <a:extLst/>
          </a:blip>
          <a:stretch>
            <a:fillRect/>
          </a:stretch>
        </p:blipFill>
        <p:spPr>
          <a:xfrm>
            <a:off x="16179800" y="3773255"/>
            <a:ext cx="5702300" cy="8113946"/>
          </a:xfrm>
          <a:prstGeom prst="rect">
            <a:avLst/>
          </a:prstGeom>
          <a:ln w="12700">
            <a:miter lim="400000"/>
          </a:ln>
        </p:spPr>
      </p:pic>
      <p:sp>
        <p:nvSpPr>
          <p:cNvPr id="29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Bayes and Markov Chain Monte Carlo"/>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 and Markov Chain Monte Carlo</a:t>
            </a:r>
          </a:p>
        </p:txBody>
      </p:sp>
      <p:sp>
        <p:nvSpPr>
          <p:cNvPr id="299" name="Body Level One…"/>
          <p:cNvSpPr txBox="1"/>
          <p:nvPr>
            <p:ph type="body" idx="21"/>
          </p:nvPr>
        </p:nvSpPr>
        <p:spPr>
          <a:xfrm>
            <a:off x="693747" y="3592341"/>
            <a:ext cx="16292428" cy="7988186"/>
          </a:xfrm>
          <a:prstGeom prst="rect">
            <a:avLst/>
          </a:prstGeom>
          <a:extLst>
            <a:ext uri="{C572A759-6A51-4108-AA02-DFA0A04FC94B}">
              <ma14:wrappingTextBoxFlag xmlns:ma14="http://schemas.microsoft.com/office/mac/drawingml/2011/main" val="1"/>
            </a:ext>
          </a:extLst>
        </p:spPr>
        <p:txBody>
          <a:bodyPr/>
          <a:lstStyle/>
          <a:p>
            <a:pPr marL="276726" indent="-276726" defTabSz="1682453">
              <a:spcBef>
                <a:spcPts val="3200"/>
              </a:spcBef>
              <a:defRPr sz="2760"/>
            </a:pPr>
            <a:r>
              <a:t>Without a simple arithmetic Conjugate Prior from our chosen distributions, we estimate using simulation with MCMC</a:t>
            </a:r>
          </a:p>
          <a:p>
            <a:pPr marL="276726" indent="-276726" defTabSz="1682453">
              <a:spcBef>
                <a:spcPts val="3200"/>
              </a:spcBef>
              <a:defRPr sz="2760"/>
            </a:pPr>
            <a:r>
              <a:t>Monte Carlo - simulate by random draws</a:t>
            </a:r>
          </a:p>
          <a:p>
            <a:pPr marL="276726" indent="-276726" defTabSz="1682453">
              <a:spcBef>
                <a:spcPts val="3200"/>
              </a:spcBef>
              <a:defRPr sz="2760"/>
            </a:pPr>
            <a:r>
              <a:t>Markov Chain - future state depends on the current state only</a:t>
            </a:r>
          </a:p>
          <a:p>
            <a:pPr marL="276726" indent="-276726" defTabSz="1682453">
              <a:spcBef>
                <a:spcPts val="3200"/>
              </a:spcBef>
              <a:defRPr sz="2760"/>
            </a:pPr>
            <a:r>
              <a:t>We sample from P(𝝷 | Data), distribution of Probability of the model+parameters using the prior and likelihood distributions to set the frequency with which we sample from each region of the posterior</a:t>
            </a:r>
          </a:p>
          <a:p>
            <a:pPr marL="276726" indent="-276726" defTabSz="1682453">
              <a:spcBef>
                <a:spcPts val="3200"/>
              </a:spcBef>
              <a:defRPr sz="2760"/>
            </a:pPr>
            <a:r>
              <a:t>From this we calculate the characteristics of our posterior distribution</a:t>
            </a:r>
          </a:p>
          <a:p>
            <a:pPr marL="276726" indent="-276726" defTabSz="1682453">
              <a:spcBef>
                <a:spcPts val="3200"/>
              </a:spcBef>
              <a:defRPr sz="2760"/>
            </a:pPr>
            <a:r>
              <a:t>PyMC uses No U-Turns (NUTS) version of the Hamiltonian sampling algorithm, searching parameter space using gradient, then stopping search when the sample search turns back to its previous steps on the path </a:t>
            </a:r>
          </a:p>
          <a:p>
            <a:pPr marL="276726" indent="-276726" defTabSz="1682453">
              <a:spcBef>
                <a:spcPts val="3200"/>
              </a:spcBef>
              <a:defRPr sz="2760"/>
            </a:pPr>
            <a:r>
              <a:t>STAN uses Hamiltonian Monte Carlo, with the NUTS engine</a:t>
            </a:r>
          </a:p>
        </p:txBody>
      </p:sp>
      <p:sp>
        <p:nvSpPr>
          <p:cNvPr id="300" name="Slide Number"/>
          <p:cNvSpPr txBox="1"/>
          <p:nvPr>
            <p:ph type="sldNum" sz="quarter" idx="2"/>
          </p:nvPr>
        </p:nvSpPr>
        <p:spPr>
          <a:xfrm>
            <a:off x="23558500" y="12458700"/>
            <a:ext cx="4084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1" name="Bayes_formula.png" descr="Bayes_formula.png"/>
          <p:cNvPicPr>
            <a:picLocks noChangeAspect="1"/>
          </p:cNvPicPr>
          <p:nvPr/>
        </p:nvPicPr>
        <p:blipFill>
          <a:blip r:embed="rId2">
            <a:extLst/>
          </a:blip>
          <a:stretch>
            <a:fillRect/>
          </a:stretch>
        </p:blipFill>
        <p:spPr>
          <a:xfrm>
            <a:off x="17280022" y="3454703"/>
            <a:ext cx="6442599" cy="1934340"/>
          </a:xfrm>
          <a:prstGeom prst="rect">
            <a:avLst/>
          </a:prstGeom>
          <a:ln w="12700">
            <a:miter lim="400000"/>
          </a:ln>
        </p:spPr>
      </p:pic>
      <p:pic>
        <p:nvPicPr>
          <p:cNvPr id="302" name="bayes_proportional.png" descr="bayes_proportional.png"/>
          <p:cNvPicPr>
            <a:picLocks noChangeAspect="1"/>
          </p:cNvPicPr>
          <p:nvPr/>
        </p:nvPicPr>
        <p:blipFill>
          <a:blip r:embed="rId3">
            <a:extLst/>
          </a:blip>
          <a:stretch>
            <a:fillRect/>
          </a:stretch>
        </p:blipFill>
        <p:spPr>
          <a:xfrm>
            <a:off x="17280022" y="5860484"/>
            <a:ext cx="6442599" cy="1010005"/>
          </a:xfrm>
          <a:prstGeom prst="rect">
            <a:avLst/>
          </a:prstGeom>
          <a:ln w="12700">
            <a:miter lim="400000"/>
          </a:ln>
        </p:spPr>
      </p:pic>
      <p:pic>
        <p:nvPicPr>
          <p:cNvPr id="303" name="lamberg.jpg" descr="lamberg.jpg"/>
          <p:cNvPicPr>
            <a:picLocks noChangeAspect="1"/>
          </p:cNvPicPr>
          <p:nvPr/>
        </p:nvPicPr>
        <p:blipFill>
          <a:blip r:embed="rId4">
            <a:extLst/>
          </a:blip>
          <a:stretch>
            <a:fillRect/>
          </a:stretch>
        </p:blipFill>
        <p:spPr>
          <a:xfrm>
            <a:off x="18233826" y="7341930"/>
            <a:ext cx="4534992" cy="5654603"/>
          </a:xfrm>
          <a:prstGeom prst="rect">
            <a:avLst/>
          </a:prstGeom>
          <a:ln w="12700">
            <a:miter lim="400000"/>
          </a:ln>
        </p:spPr>
      </p:pic>
      <p:sp>
        <p:nvSpPr>
          <p:cNvPr id="304"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5" invalidUrl="" action="" tgtFrame="" tooltip="" history="1" highlightClick="0" endSnd="0"/>
              </a:defRPr>
            </a:lvl1pPr>
          </a:lstStyle>
          <a:p>
            <a:pPr>
              <a:defRPr u="none">
                <a:uFillTx/>
              </a:defRPr>
            </a:pPr>
            <a:r>
              <a:rPr u="sng">
                <a:uFill>
                  <a:solidFill>
                    <a:srgbClr val="0000FF"/>
                  </a:solidFill>
                </a:uFill>
                <a:hlinkClick r:id="rId5"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Who and Where are the Global Irish?"/>
          <p:cNvSpPr txBox="1"/>
          <p:nvPr>
            <p:ph type="title"/>
          </p:nvPr>
        </p:nvSpPr>
        <p:spPr>
          <a:prstGeom prst="rect">
            <a:avLst/>
          </a:prstGeom>
        </p:spPr>
        <p:txBody>
          <a:bodyPr/>
          <a:lstStyle>
            <a:lvl1pPr defTabSz="2015286">
              <a:defRPr spc="-100" sz="9570"/>
            </a:lvl1pPr>
          </a:lstStyle>
          <a:p>
            <a:pPr/>
            <a:r>
              <a:t>Python Libraries</a:t>
            </a:r>
          </a:p>
        </p:txBody>
      </p:sp>
      <p:sp>
        <p:nvSpPr>
          <p:cNvPr id="307" name="Northern Ireland: CRN, PUL and unaffiliated, Irish, British, Northern Irish total 1.9m…"/>
          <p:cNvSpPr txBox="1"/>
          <p:nvPr>
            <p:ph type="body" sz="half" idx="1"/>
          </p:nvPr>
        </p:nvSpPr>
        <p:spPr>
          <a:xfrm>
            <a:off x="1270117" y="2729993"/>
            <a:ext cx="10575989" cy="9179085"/>
          </a:xfrm>
          <a:prstGeom prst="rect">
            <a:avLst/>
          </a:prstGeom>
        </p:spPr>
        <p:txBody>
          <a:bodyPr lIns="50800" tIns="50800" rIns="50800" bIns="50800"/>
          <a:lstStyle/>
          <a:p>
            <a:pPr marL="292768" indent="-292768" defTabSz="1779986">
              <a:spcBef>
                <a:spcPts val="3400"/>
              </a:spcBef>
              <a:buSzPct val="100000"/>
              <a:buChar char="•"/>
              <a:defRPr sz="2920">
                <a:latin typeface="Graphik Light"/>
                <a:ea typeface="Graphik Light"/>
                <a:cs typeface="Graphik Light"/>
                <a:sym typeface="Graphik Light"/>
              </a:defRPr>
            </a:pPr>
            <a:r>
              <a:t>Usual data analysis libraries</a:t>
            </a:r>
          </a:p>
          <a:p>
            <a:pPr marL="292768" indent="-292768" defTabSz="1779986">
              <a:spcBef>
                <a:spcPts val="3400"/>
              </a:spcBef>
              <a:buSzPct val="100000"/>
              <a:buChar char="•"/>
              <a:defRPr sz="2920">
                <a:latin typeface="Graphik Light"/>
                <a:ea typeface="Graphik Light"/>
                <a:cs typeface="Graphik Light"/>
                <a:sym typeface="Graphik Light"/>
              </a:defRPr>
            </a:pPr>
            <a:r>
              <a:rPr b="1">
                <a:latin typeface="Graphik"/>
                <a:ea typeface="Graphik"/>
                <a:cs typeface="Graphik"/>
                <a:sym typeface="Graphik"/>
              </a:rPr>
              <a:t>SciPy </a:t>
            </a:r>
            <a:r>
              <a:t>for the old Fortran </a:t>
            </a:r>
            <a:r>
              <a:rPr b="1">
                <a:latin typeface="Graphik"/>
                <a:ea typeface="Graphik"/>
                <a:cs typeface="Graphik"/>
                <a:sym typeface="Graphik"/>
              </a:rPr>
              <a:t>odeint</a:t>
            </a:r>
            <a:r>
              <a:t>() solver</a:t>
            </a:r>
          </a:p>
          <a:p>
            <a:pPr marL="292768" indent="-292768" defTabSz="1779986">
              <a:spcBef>
                <a:spcPts val="3400"/>
              </a:spcBef>
              <a:buSzPct val="100000"/>
              <a:buChar char="•"/>
              <a:defRPr sz="2920">
                <a:latin typeface="Graphik Light"/>
                <a:ea typeface="Graphik Light"/>
                <a:cs typeface="Graphik Light"/>
                <a:sym typeface="Graphik Light"/>
              </a:defRPr>
            </a:pPr>
            <a:r>
              <a:rPr b="1">
                <a:latin typeface="Graphik"/>
                <a:ea typeface="Graphik"/>
                <a:cs typeface="Graphik"/>
                <a:sym typeface="Graphik"/>
              </a:rPr>
              <a:t>PyMC</a:t>
            </a:r>
            <a:r>
              <a:t> for running the MCMC, ran on Windows 11</a:t>
            </a:r>
          </a:p>
          <a:p>
            <a:pPr marL="292768" indent="-292768" defTabSz="1779986">
              <a:spcBef>
                <a:spcPts val="3400"/>
              </a:spcBef>
              <a:buSzPct val="100000"/>
              <a:buChar char="•"/>
              <a:defRPr sz="2920">
                <a:latin typeface="Graphik Light"/>
                <a:ea typeface="Graphik Light"/>
                <a:cs typeface="Graphik Light"/>
                <a:sym typeface="Graphik Light"/>
              </a:defRPr>
            </a:pPr>
            <a:r>
              <a:rPr b="1">
                <a:latin typeface="Graphik"/>
                <a:ea typeface="Graphik"/>
                <a:cs typeface="Graphik"/>
                <a:sym typeface="Graphik"/>
              </a:rPr>
              <a:t>STAN</a:t>
            </a:r>
            <a:r>
              <a:t> language was used with </a:t>
            </a:r>
            <a:r>
              <a:rPr b="1">
                <a:latin typeface="Graphik"/>
                <a:ea typeface="Graphik"/>
                <a:cs typeface="Graphik"/>
                <a:sym typeface="Graphik"/>
              </a:rPr>
              <a:t>cmdstanpy </a:t>
            </a:r>
            <a:r>
              <a:t>a wrapper for STAN, in Windows System Linux, and on Google Colab.  </a:t>
            </a:r>
          </a:p>
          <a:p>
            <a:pPr marL="292768" indent="-292768" defTabSz="1779986">
              <a:spcBef>
                <a:spcPts val="3400"/>
              </a:spcBef>
              <a:buSzPct val="100000"/>
              <a:buChar char="•"/>
              <a:defRPr sz="2920">
                <a:latin typeface="Graphik Light"/>
                <a:ea typeface="Graphik Light"/>
                <a:cs typeface="Graphik Light"/>
                <a:sym typeface="Graphik Light"/>
              </a:defRPr>
            </a:pPr>
            <a:r>
              <a:t>Installing </a:t>
            </a:r>
            <a:r>
              <a:rPr b="1">
                <a:latin typeface="Graphik"/>
                <a:ea typeface="Graphik"/>
                <a:cs typeface="Graphik"/>
                <a:sym typeface="Graphik"/>
              </a:rPr>
              <a:t>PyStan</a:t>
            </a:r>
            <a:r>
              <a:t>, </a:t>
            </a:r>
            <a:r>
              <a:rPr b="1">
                <a:latin typeface="Graphik"/>
                <a:ea typeface="Graphik"/>
                <a:cs typeface="Graphik"/>
                <a:sym typeface="Graphik"/>
              </a:rPr>
              <a:t>cmdstanpy</a:t>
            </a:r>
            <a:r>
              <a:t> failed repeatedly in Windows and MacOS</a:t>
            </a:r>
          </a:p>
          <a:p>
            <a:pPr marL="292768" indent="-292768" defTabSz="1779986">
              <a:spcBef>
                <a:spcPts val="3400"/>
              </a:spcBef>
              <a:buSzPct val="100000"/>
              <a:buChar char="•"/>
              <a:defRPr sz="2920">
                <a:latin typeface="Graphik Light"/>
                <a:ea typeface="Graphik Light"/>
                <a:cs typeface="Graphik Light"/>
                <a:sym typeface="Graphik Light"/>
              </a:defRPr>
            </a:pPr>
            <a:r>
              <a:rPr b="1">
                <a:latin typeface="Graphik"/>
                <a:ea typeface="Graphik"/>
                <a:cs typeface="Graphik"/>
                <a:sym typeface="Graphik"/>
              </a:rPr>
              <a:t>ArviZ</a:t>
            </a:r>
            <a:r>
              <a:t> was for MCMC diagnostics and metrics</a:t>
            </a:r>
          </a:p>
          <a:p>
            <a:pPr marL="292768" indent="-292768" defTabSz="1779986">
              <a:spcBef>
                <a:spcPts val="3400"/>
              </a:spcBef>
              <a:buSzPct val="100000"/>
              <a:buChar char="•"/>
              <a:defRPr sz="2920">
                <a:latin typeface="Graphik Light"/>
                <a:ea typeface="Graphik Light"/>
                <a:cs typeface="Graphik Light"/>
                <a:sym typeface="Graphik Light"/>
              </a:defRPr>
            </a:pPr>
            <a:r>
              <a:t>No one platform would run both, hence the separate files and static versions in the GitHub</a:t>
            </a:r>
          </a:p>
          <a:p>
            <a:pPr marL="292768" indent="-292768" defTabSz="1779986">
              <a:spcBef>
                <a:spcPts val="3400"/>
              </a:spcBef>
              <a:buSzPct val="100000"/>
              <a:buChar char="•"/>
              <a:defRPr sz="2920">
                <a:latin typeface="Graphik Light"/>
                <a:ea typeface="Graphik Light"/>
                <a:cs typeface="Graphik Light"/>
                <a:sym typeface="Graphik Light"/>
              </a:defRPr>
            </a:pPr>
            <a:r>
              <a:t>Runs on Google Colab and with one  4090 GPU , runs took 5-25 minutes</a:t>
            </a:r>
          </a:p>
        </p:txBody>
      </p:sp>
      <p:sp>
        <p:nvSpPr>
          <p:cNvPr id="308" name="Slide Number"/>
          <p:cNvSpPr txBox="1"/>
          <p:nvPr>
            <p:ph type="sldNum" sz="quarter" idx="2"/>
          </p:nvPr>
        </p:nvSpPr>
        <p:spPr>
          <a:xfrm>
            <a:off x="23558500" y="12458700"/>
            <a:ext cx="40284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9" name="jupyter.png" descr="jupyter.png"/>
          <p:cNvPicPr>
            <a:picLocks noChangeAspect="1"/>
          </p:cNvPicPr>
          <p:nvPr/>
        </p:nvPicPr>
        <p:blipFill>
          <a:blip r:embed="rId2">
            <a:extLst/>
          </a:blip>
          <a:stretch>
            <a:fillRect/>
          </a:stretch>
        </p:blipFill>
        <p:spPr>
          <a:xfrm>
            <a:off x="12717061" y="1484720"/>
            <a:ext cx="4229101" cy="2368297"/>
          </a:xfrm>
          <a:prstGeom prst="rect">
            <a:avLst/>
          </a:prstGeom>
          <a:ln w="12700">
            <a:miter lim="400000"/>
          </a:ln>
        </p:spPr>
      </p:pic>
      <p:pic>
        <p:nvPicPr>
          <p:cNvPr id="310" name="numpy.png" descr="numpy.png"/>
          <p:cNvPicPr>
            <a:picLocks noChangeAspect="1"/>
          </p:cNvPicPr>
          <p:nvPr/>
        </p:nvPicPr>
        <p:blipFill>
          <a:blip r:embed="rId3">
            <a:extLst/>
          </a:blip>
          <a:stretch>
            <a:fillRect/>
          </a:stretch>
        </p:blipFill>
        <p:spPr>
          <a:xfrm>
            <a:off x="12668850" y="7848134"/>
            <a:ext cx="4339591" cy="1943101"/>
          </a:xfrm>
          <a:prstGeom prst="rect">
            <a:avLst/>
          </a:prstGeom>
          <a:ln w="12700">
            <a:miter lim="400000"/>
          </a:ln>
        </p:spPr>
      </p:pic>
      <p:pic>
        <p:nvPicPr>
          <p:cNvPr id="311" name="pandas.png" descr="pandas.png"/>
          <p:cNvPicPr>
            <a:picLocks noChangeAspect="1"/>
          </p:cNvPicPr>
          <p:nvPr/>
        </p:nvPicPr>
        <p:blipFill>
          <a:blip r:embed="rId4">
            <a:extLst/>
          </a:blip>
          <a:stretch>
            <a:fillRect/>
          </a:stretch>
        </p:blipFill>
        <p:spPr>
          <a:xfrm>
            <a:off x="12707536" y="4955698"/>
            <a:ext cx="4241801" cy="1718350"/>
          </a:xfrm>
          <a:prstGeom prst="rect">
            <a:avLst/>
          </a:prstGeom>
          <a:ln w="12700">
            <a:miter lim="400000"/>
          </a:ln>
        </p:spPr>
      </p:pic>
      <p:pic>
        <p:nvPicPr>
          <p:cNvPr id="312" name="ArviZ.png" descr="ArviZ.png"/>
          <p:cNvPicPr>
            <a:picLocks noChangeAspect="1"/>
          </p:cNvPicPr>
          <p:nvPr/>
        </p:nvPicPr>
        <p:blipFill>
          <a:blip r:embed="rId5">
            <a:extLst/>
          </a:blip>
          <a:stretch>
            <a:fillRect/>
          </a:stretch>
        </p:blipFill>
        <p:spPr>
          <a:xfrm>
            <a:off x="19175141" y="10084617"/>
            <a:ext cx="3363210" cy="2375409"/>
          </a:xfrm>
          <a:prstGeom prst="rect">
            <a:avLst/>
          </a:prstGeom>
          <a:ln w="12700">
            <a:miter lim="400000"/>
          </a:ln>
        </p:spPr>
      </p:pic>
      <p:pic>
        <p:nvPicPr>
          <p:cNvPr id="313" name="scipy.svg" descr="scipy.svg"/>
          <p:cNvPicPr>
            <a:picLocks noChangeAspect="1"/>
          </p:cNvPicPr>
          <p:nvPr/>
        </p:nvPicPr>
        <p:blipFill>
          <a:blip r:embed="rId6">
            <a:extLst/>
          </a:blip>
          <a:stretch>
            <a:fillRect/>
          </a:stretch>
        </p:blipFill>
        <p:spPr>
          <a:xfrm>
            <a:off x="13452521" y="10361348"/>
            <a:ext cx="2591048" cy="2591049"/>
          </a:xfrm>
          <a:prstGeom prst="rect">
            <a:avLst/>
          </a:prstGeom>
          <a:ln w="12700">
            <a:miter lim="400000"/>
          </a:ln>
        </p:spPr>
      </p:pic>
      <p:pic>
        <p:nvPicPr>
          <p:cNvPr id="314" name="PyMC4.png" descr="PyMC4.png"/>
          <p:cNvPicPr>
            <a:picLocks noChangeAspect="1"/>
          </p:cNvPicPr>
          <p:nvPr/>
        </p:nvPicPr>
        <p:blipFill>
          <a:blip r:embed="rId7">
            <a:extLst/>
          </a:blip>
          <a:stretch>
            <a:fillRect/>
          </a:stretch>
        </p:blipFill>
        <p:spPr>
          <a:xfrm>
            <a:off x="18338939" y="1487196"/>
            <a:ext cx="5041475" cy="2362201"/>
          </a:xfrm>
          <a:prstGeom prst="rect">
            <a:avLst/>
          </a:prstGeom>
          <a:ln w="12700">
            <a:miter lim="400000"/>
          </a:ln>
        </p:spPr>
      </p:pic>
      <p:pic>
        <p:nvPicPr>
          <p:cNvPr id="315" name="stan_logo.png" descr="stan_logo.png"/>
          <p:cNvPicPr>
            <a:picLocks noChangeAspect="1"/>
          </p:cNvPicPr>
          <p:nvPr/>
        </p:nvPicPr>
        <p:blipFill>
          <a:blip r:embed="rId8">
            <a:extLst/>
          </a:blip>
          <a:stretch>
            <a:fillRect/>
          </a:stretch>
        </p:blipFill>
        <p:spPr>
          <a:xfrm>
            <a:off x="19182821" y="5080000"/>
            <a:ext cx="3346980" cy="4227764"/>
          </a:xfrm>
          <a:prstGeom prst="rect">
            <a:avLst/>
          </a:prstGeom>
          <a:ln w="12700">
            <a:miter lim="400000"/>
          </a:ln>
        </p:spPr>
      </p:pic>
      <p:sp>
        <p:nvSpPr>
          <p:cNvPr id="31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9" invalidUrl="" action="" tgtFrame="" tooltip="" history="1" highlightClick="0" endSnd="0"/>
              </a:defRPr>
            </a:lvl1pPr>
          </a:lstStyle>
          <a:p>
            <a:pPr>
              <a:defRPr u="none">
                <a:uFillTx/>
              </a:defRPr>
            </a:pPr>
            <a:r>
              <a:rPr u="sng">
                <a:uFill>
                  <a:solidFill>
                    <a:srgbClr val="0000FF"/>
                  </a:solidFill>
                </a:uFill>
                <a:hlinkClick r:id="rId9"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Citizenship for the Second Irish Century"/>
          <p:cNvSpPr txBox="1"/>
          <p:nvPr>
            <p:ph type="body" idx="22"/>
          </p:nvPr>
        </p:nvSpPr>
        <p:spPr>
          <a:xfrm>
            <a:off x="698557" y="3162151"/>
            <a:ext cx="21386801" cy="9512301"/>
          </a:xfrm>
          <a:prstGeom prst="rect">
            <a:avLst/>
          </a:prstGeom>
          <a:extLst>
            <a:ext uri="{C572A759-6A51-4108-AA02-DFA0A04FC94B}">
              <ma14:wrappingTextBoxFlag xmlns:ma14="http://schemas.microsoft.com/office/mac/drawingml/2011/main" val="1"/>
            </a:ext>
          </a:extLst>
        </p:spPr>
        <p:txBody>
          <a:bodyPr/>
          <a:lstStyle/>
          <a:p>
            <a:pPr marL="276726" indent="-276726" defTabSz="1682453">
              <a:spcBef>
                <a:spcPts val="3200"/>
              </a:spcBef>
              <a:buSzPct val="100000"/>
              <a:buChar char="•"/>
              <a:defRPr sz="2760">
                <a:latin typeface="Graphik Light"/>
                <a:ea typeface="Graphik Light"/>
                <a:cs typeface="Graphik Light"/>
                <a:sym typeface="Graphik Light"/>
              </a:defRPr>
            </a:pPr>
            <a:r>
              <a:t>Require log-likelihood from PyMC or STAN output in </a:t>
            </a:r>
            <a:r>
              <a:rPr b="1">
                <a:latin typeface="Graphik"/>
                <a:ea typeface="Graphik"/>
                <a:cs typeface="Graphik"/>
                <a:sym typeface="Graphik"/>
              </a:rPr>
              <a:t>idata </a:t>
            </a:r>
            <a:r>
              <a:t>output</a:t>
            </a:r>
          </a:p>
          <a:p>
            <a:pPr marL="276726" indent="-276726" defTabSz="1682453">
              <a:spcBef>
                <a:spcPts val="3200"/>
              </a:spcBef>
              <a:buSzPct val="100000"/>
              <a:buChar char="•"/>
              <a:defRPr sz="2760">
                <a:latin typeface="Graphik Light"/>
                <a:ea typeface="Graphik Light"/>
                <a:cs typeface="Graphik Light"/>
                <a:sym typeface="Graphik Light"/>
              </a:defRPr>
            </a:pPr>
            <a:r>
              <a:t>Summary statistics for estimated parameters</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R-hat</a:t>
            </a:r>
            <a:r>
              <a:t> - compares between-chain variance to within-chain variance for the parameter: if chains have mixed well and are sampling the same stationary distribution, those variances match and R-hat &lt;= 1.05 </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Trace plots </a:t>
            </a:r>
            <a:r>
              <a:t>show marginal distribution of estimated parameter and time-series per chain of samples - look for convergence and the shape of the estimates</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Pair plots </a:t>
            </a:r>
            <a:r>
              <a:t>- joint posterior of selected parameters often with divergent transitions overlaid. They show correlations or non-linear relationships,or multimodality</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Energy plots</a:t>
            </a:r>
            <a:r>
              <a:t> shows the Hamiltonian used by HMC/NUTS, movement, wide range means exhaustive search</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Posterior plot </a:t>
            </a:r>
            <a:r>
              <a:t>- show the distribution, the mean, mode and dispersion and compare to the original sample</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WAIC </a:t>
            </a:r>
            <a:r>
              <a:t>- Watanabe Information Criterion, estimates out-of-sample predictive accuracy from MCMC draws using the pointwise log-likelihood, this incorporates the posterior uncertainty in assessing accuracy, the higher the better</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LOO -</a:t>
            </a:r>
            <a:r>
              <a:t> Leave One Out, another Information Criterion, higher the better </a:t>
            </a:r>
          </a:p>
        </p:txBody>
      </p:sp>
      <p:sp>
        <p:nvSpPr>
          <p:cNvPr id="319" name="Building a Home for the Global Irish Nation"/>
          <p:cNvSpPr txBox="1"/>
          <p:nvPr>
            <p:ph type="title"/>
          </p:nvPr>
        </p:nvSpPr>
        <p:spPr>
          <a:xfrm>
            <a:off x="1408686" y="563691"/>
            <a:ext cx="18389601" cy="2040447"/>
          </a:xfrm>
          <a:prstGeom prst="rect">
            <a:avLst/>
          </a:prstGeom>
        </p:spPr>
        <p:txBody>
          <a:bodyPr anchor="t"/>
          <a:lstStyle>
            <a:lvl1pPr defTabSz="288036">
              <a:defRPr spc="-99" sz="9700"/>
            </a:lvl1pPr>
          </a:lstStyle>
          <a:p>
            <a:pPr/>
            <a:r>
              <a:t>Diagnostics from ArviZ</a:t>
            </a:r>
          </a:p>
        </p:txBody>
      </p:sp>
      <p:sp>
        <p:nvSpPr>
          <p:cNvPr id="320" name="Slide Number"/>
          <p:cNvSpPr txBox="1"/>
          <p:nvPr>
            <p:ph type="sldNum" sz="quarter" idx="2"/>
          </p:nvPr>
        </p:nvSpPr>
        <p:spPr>
          <a:xfrm>
            <a:off x="23558499" y="12458700"/>
            <a:ext cx="40411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Who and Where are the Global Irish?"/>
          <p:cNvSpPr txBox="1"/>
          <p:nvPr>
            <p:ph type="title"/>
          </p:nvPr>
        </p:nvSpPr>
        <p:spPr>
          <a:prstGeom prst="rect">
            <a:avLst/>
          </a:prstGeom>
        </p:spPr>
        <p:txBody>
          <a:bodyPr/>
          <a:lstStyle>
            <a:lvl1pPr defTabSz="2316421">
              <a:defRPr sz="9500"/>
            </a:lvl1pPr>
          </a:lstStyle>
          <a:p>
            <a:pPr/>
            <a:r>
              <a:t>School Dataset</a:t>
            </a:r>
          </a:p>
        </p:txBody>
      </p:sp>
      <p:sp>
        <p:nvSpPr>
          <p:cNvPr id="324" name="Northern Ireland: CRN, PUL and unaffiliated, Irish, British, Northern Irish total 1.9m…"/>
          <p:cNvSpPr txBox="1"/>
          <p:nvPr>
            <p:ph type="body" sz="quarter" idx="1"/>
          </p:nvPr>
        </p:nvSpPr>
        <p:spPr>
          <a:xfrm>
            <a:off x="1220125" y="2991405"/>
            <a:ext cx="5553678" cy="8775850"/>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‘Flu outbreak in an English school, dataset published in 1978</a:t>
            </a:r>
          </a:p>
          <a:p>
            <a:pPr lvl="1" marL="782052" indent="-401052" defTabSz="2438337">
              <a:spcBef>
                <a:spcPts val="4700"/>
              </a:spcBef>
              <a:defRPr sz="4000">
                <a:latin typeface="Graphik Light"/>
                <a:ea typeface="Graphik Light"/>
                <a:cs typeface="Graphik Light"/>
                <a:sym typeface="Graphik Light"/>
              </a:defRPr>
            </a:pPr>
            <a:r>
              <a:t>PyMC - See Jupyter Notebook 3 </a:t>
            </a:r>
          </a:p>
          <a:p>
            <a:pPr lvl="1" marL="782052" indent="-401052" defTabSz="2438337">
              <a:spcBef>
                <a:spcPts val="4700"/>
              </a:spcBef>
              <a:defRPr sz="4000">
                <a:latin typeface="Graphik Light"/>
                <a:ea typeface="Graphik Light"/>
                <a:cs typeface="Graphik Light"/>
                <a:sym typeface="Graphik Light"/>
              </a:defRPr>
            </a:pPr>
            <a:r>
              <a:t>STAN - Seee STAN/CmdStanPy1.ipyn section ‘School Example’</a:t>
            </a:r>
          </a:p>
        </p:txBody>
      </p:sp>
      <p:sp>
        <p:nvSpPr>
          <p:cNvPr id="325" name="Slide Number"/>
          <p:cNvSpPr txBox="1"/>
          <p:nvPr>
            <p:ph type="sldNum" sz="quarter" idx="2"/>
          </p:nvPr>
        </p:nvSpPr>
        <p:spPr>
          <a:xfrm>
            <a:off x="23558500" y="12458700"/>
            <a:ext cx="40970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6" name="school1.png" descr="school1.png"/>
          <p:cNvPicPr>
            <a:picLocks noChangeAspect="1"/>
          </p:cNvPicPr>
          <p:nvPr/>
        </p:nvPicPr>
        <p:blipFill>
          <a:blip r:embed="rId2">
            <a:extLst/>
          </a:blip>
          <a:stretch>
            <a:fillRect/>
          </a:stretch>
        </p:blipFill>
        <p:spPr>
          <a:xfrm>
            <a:off x="7749388" y="3632829"/>
            <a:ext cx="15709901" cy="7493001"/>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Who and Where are the Global Irish?"/>
          <p:cNvSpPr txBox="1"/>
          <p:nvPr>
            <p:ph type="title"/>
          </p:nvPr>
        </p:nvSpPr>
        <p:spPr>
          <a:xfrm>
            <a:off x="1206500" y="622300"/>
            <a:ext cx="21971000" cy="1689100"/>
          </a:xfrm>
          <a:prstGeom prst="rect">
            <a:avLst/>
          </a:prstGeom>
        </p:spPr>
        <p:txBody>
          <a:bodyPr/>
          <a:lstStyle>
            <a:lvl1pPr defTabSz="2316421">
              <a:defRPr sz="9500"/>
            </a:lvl1pPr>
          </a:lstStyle>
          <a:p>
            <a:pPr/>
            <a:r>
              <a:t>School Case-Study - SIR ODE</a:t>
            </a:r>
          </a:p>
        </p:txBody>
      </p:sp>
      <p:sp>
        <p:nvSpPr>
          <p:cNvPr id="329" name="Northern Ireland: CRN, PUL and unaffiliated, Irish, British, Northern Irish total 1.9m…"/>
          <p:cNvSpPr txBox="1"/>
          <p:nvPr>
            <p:ph type="body" sz="quarter" idx="1"/>
          </p:nvPr>
        </p:nvSpPr>
        <p:spPr>
          <a:xfrm>
            <a:off x="840976" y="3820046"/>
            <a:ext cx="5490076" cy="8085354"/>
          </a:xfrm>
          <a:prstGeom prst="rect">
            <a:avLst/>
          </a:prstGeom>
        </p:spPr>
        <p:txBody>
          <a:bodyPr lIns="50800" tIns="50800" rIns="50800" bIns="50800"/>
          <a:lstStyle/>
          <a:p>
            <a:pPr lvl="1" marL="742950" indent="-381000" defTabSz="2316421">
              <a:spcBef>
                <a:spcPts val="4400"/>
              </a:spcBef>
              <a:defRPr sz="3800">
                <a:latin typeface="Graphik Light"/>
                <a:ea typeface="Graphik Light"/>
                <a:cs typeface="Graphik Light"/>
                <a:sym typeface="Graphik Light"/>
              </a:defRPr>
            </a:pPr>
            <a:r>
              <a:t>SIR function is defined in Python</a:t>
            </a:r>
          </a:p>
          <a:p>
            <a:pPr lvl="1" marL="742950" indent="-381000" defTabSz="2316421">
              <a:spcBef>
                <a:spcPts val="4400"/>
              </a:spcBef>
              <a:defRPr sz="3800">
                <a:latin typeface="Graphik Light"/>
                <a:ea typeface="Graphik Light"/>
                <a:cs typeface="Graphik Light"/>
                <a:sym typeface="Graphik Light"/>
              </a:defRPr>
            </a:pPr>
            <a:r>
              <a:t>I found the logic in a comment on a PyMC forum, the only published SIR I found</a:t>
            </a:r>
          </a:p>
          <a:p>
            <a:pPr lvl="1" marL="742950" indent="-381000" defTabSz="2316421">
              <a:spcBef>
                <a:spcPts val="4400"/>
              </a:spcBef>
              <a:defRPr sz="3800">
                <a:latin typeface="Graphik Light"/>
                <a:ea typeface="Graphik Light"/>
                <a:cs typeface="Graphik Light"/>
                <a:sym typeface="Graphik Light"/>
              </a:defRPr>
            </a:pPr>
            <a:r>
              <a:t> Marginalisation - we ignore R(t), integrating over all values</a:t>
            </a:r>
          </a:p>
        </p:txBody>
      </p:sp>
      <p:sp>
        <p:nvSpPr>
          <p:cNvPr id="330" name="Slide Number"/>
          <p:cNvSpPr txBox="1"/>
          <p:nvPr>
            <p:ph type="sldNum" sz="quarter" idx="2"/>
          </p:nvPr>
        </p:nvSpPr>
        <p:spPr>
          <a:xfrm>
            <a:off x="23558500" y="12458700"/>
            <a:ext cx="38582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31" name="school2.png" descr="school2.png"/>
          <p:cNvPicPr>
            <a:picLocks noChangeAspect="1"/>
          </p:cNvPicPr>
          <p:nvPr/>
        </p:nvPicPr>
        <p:blipFill>
          <a:blip r:embed="rId2">
            <a:extLst/>
          </a:blip>
          <a:stretch>
            <a:fillRect/>
          </a:stretch>
        </p:blipFill>
        <p:spPr>
          <a:xfrm>
            <a:off x="7246493" y="3345704"/>
            <a:ext cx="14262403" cy="9413187"/>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Who and Where are the Global Irish?"/>
          <p:cNvSpPr txBox="1"/>
          <p:nvPr>
            <p:ph type="title"/>
          </p:nvPr>
        </p:nvSpPr>
        <p:spPr>
          <a:xfrm>
            <a:off x="1206500" y="574906"/>
            <a:ext cx="21971000" cy="1689101"/>
          </a:xfrm>
          <a:prstGeom prst="rect">
            <a:avLst/>
          </a:prstGeom>
        </p:spPr>
        <p:txBody>
          <a:bodyPr/>
          <a:lstStyle>
            <a:lvl1pPr defTabSz="2316421">
              <a:defRPr sz="9500"/>
            </a:lvl1pPr>
          </a:lstStyle>
          <a:p>
            <a:pPr/>
            <a:r>
              <a:t>School Case-Study - Define the Priors</a:t>
            </a:r>
          </a:p>
        </p:txBody>
      </p:sp>
      <p:sp>
        <p:nvSpPr>
          <p:cNvPr id="334" name="Slide Number"/>
          <p:cNvSpPr txBox="1"/>
          <p:nvPr>
            <p:ph type="sldNum" sz="quarter" idx="2"/>
          </p:nvPr>
        </p:nvSpPr>
        <p:spPr>
          <a:xfrm>
            <a:off x="23558500" y="12458700"/>
            <a:ext cx="40665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35" name="school2.1.png" descr="school2.1.png"/>
          <p:cNvPicPr>
            <a:picLocks noChangeAspect="1"/>
          </p:cNvPicPr>
          <p:nvPr/>
        </p:nvPicPr>
        <p:blipFill>
          <a:blip r:embed="rId2">
            <a:extLst/>
          </a:blip>
          <a:stretch>
            <a:fillRect/>
          </a:stretch>
        </p:blipFill>
        <p:spPr>
          <a:xfrm>
            <a:off x="4422622" y="3167464"/>
            <a:ext cx="15916935" cy="10065566"/>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Who and Where are the Global Irish?"/>
          <p:cNvSpPr txBox="1"/>
          <p:nvPr>
            <p:ph type="title"/>
          </p:nvPr>
        </p:nvSpPr>
        <p:spPr>
          <a:xfrm>
            <a:off x="1206499" y="919361"/>
            <a:ext cx="21971001" cy="1689101"/>
          </a:xfrm>
          <a:prstGeom prst="rect">
            <a:avLst/>
          </a:prstGeom>
        </p:spPr>
        <p:txBody>
          <a:bodyPr/>
          <a:lstStyle>
            <a:lvl1pPr defTabSz="1297195">
              <a:defRPr spc="-56" sz="5320"/>
            </a:lvl1pPr>
          </a:lstStyle>
          <a:p>
            <a:pPr/>
            <a:r>
              <a:t>School Case-Study - MCMC Functions, Sampling, Logs, Output to ArviZ</a:t>
            </a:r>
          </a:p>
        </p:txBody>
      </p:sp>
      <p:sp>
        <p:nvSpPr>
          <p:cNvPr id="338" name="Slide Number"/>
          <p:cNvSpPr txBox="1"/>
          <p:nvPr>
            <p:ph type="sldNum" sz="quarter" idx="2"/>
          </p:nvPr>
        </p:nvSpPr>
        <p:spPr>
          <a:xfrm>
            <a:off x="23558500" y="12458700"/>
            <a:ext cx="4124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39" name="school3.png" descr="school3.png"/>
          <p:cNvPicPr>
            <a:picLocks noChangeAspect="1"/>
          </p:cNvPicPr>
          <p:nvPr/>
        </p:nvPicPr>
        <p:blipFill>
          <a:blip r:embed="rId2">
            <a:extLst/>
          </a:blip>
          <a:stretch>
            <a:fillRect/>
          </a:stretch>
        </p:blipFill>
        <p:spPr>
          <a:xfrm>
            <a:off x="2862537" y="3640981"/>
            <a:ext cx="18658926" cy="8547144"/>
          </a:xfrm>
          <a:prstGeom prst="rect">
            <a:avLst/>
          </a:prstGeom>
          <a:ln w="12700">
            <a:miter lim="400000"/>
          </a:ln>
        </p:spPr>
      </p:pic>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1" name="Who and Where are the Global Irish?"/>
          <p:cNvSpPr txBox="1"/>
          <p:nvPr>
            <p:ph type="title"/>
          </p:nvPr>
        </p:nvSpPr>
        <p:spPr>
          <a:prstGeom prst="rect">
            <a:avLst/>
          </a:prstGeom>
        </p:spPr>
        <p:txBody>
          <a:bodyPr/>
          <a:lstStyle>
            <a:lvl1pPr defTabSz="2316421">
              <a:defRPr sz="9500"/>
            </a:lvl1pPr>
          </a:lstStyle>
          <a:p>
            <a:pPr/>
            <a:r>
              <a:t>School Case-Study - STAN code</a:t>
            </a:r>
          </a:p>
        </p:txBody>
      </p:sp>
      <p:sp>
        <p:nvSpPr>
          <p:cNvPr id="342" name="Northern Ireland: CRN, PUL and unaffiliated, Irish, British, Northern Irish total 1.9m…"/>
          <p:cNvSpPr txBox="1"/>
          <p:nvPr>
            <p:ph type="body" sz="half" idx="1"/>
          </p:nvPr>
        </p:nvSpPr>
        <p:spPr>
          <a:xfrm>
            <a:off x="822670" y="4507253"/>
            <a:ext cx="7508806" cy="10287001"/>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Line 60 - Priors defined</a:t>
            </a:r>
          </a:p>
          <a:p>
            <a:pPr lvl="1" marL="782052" indent="-401052" defTabSz="2438337">
              <a:spcBef>
                <a:spcPts val="4700"/>
              </a:spcBef>
              <a:defRPr sz="4000">
                <a:latin typeface="Graphik Light"/>
                <a:ea typeface="Graphik Light"/>
                <a:cs typeface="Graphik Light"/>
                <a:sym typeface="Graphik Light"/>
              </a:defRPr>
            </a:pPr>
            <a:r>
              <a:t>Line 74 - Negative binomial for infections</a:t>
            </a:r>
          </a:p>
          <a:p>
            <a:pPr lvl="1" marL="782052" indent="-401052" defTabSz="2438337">
              <a:spcBef>
                <a:spcPts val="4700"/>
              </a:spcBef>
              <a:defRPr sz="4000">
                <a:latin typeface="Graphik Light"/>
                <a:ea typeface="Graphik Light"/>
                <a:cs typeface="Graphik Light"/>
                <a:sym typeface="Graphik Light"/>
              </a:defRPr>
            </a:pPr>
            <a:r>
              <a:t> Line 76 - log-likelihood generated for ArviZ to access</a:t>
            </a:r>
          </a:p>
        </p:txBody>
      </p:sp>
      <p:sp>
        <p:nvSpPr>
          <p:cNvPr id="343" name="Slide Number"/>
          <p:cNvSpPr txBox="1"/>
          <p:nvPr>
            <p:ph type="sldNum" sz="quarter" idx="2"/>
          </p:nvPr>
        </p:nvSpPr>
        <p:spPr>
          <a:xfrm>
            <a:off x="23558500" y="12458700"/>
            <a:ext cx="44069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44" name="school6.png" descr="school6.png"/>
          <p:cNvPicPr>
            <a:picLocks noChangeAspect="1"/>
          </p:cNvPicPr>
          <p:nvPr/>
        </p:nvPicPr>
        <p:blipFill>
          <a:blip r:embed="rId2">
            <a:extLst/>
          </a:blip>
          <a:stretch>
            <a:fillRect/>
          </a:stretch>
        </p:blipFill>
        <p:spPr>
          <a:xfrm>
            <a:off x="8743987" y="2883399"/>
            <a:ext cx="12458865" cy="10287001"/>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Who and Where are the Global Irish?"/>
          <p:cNvSpPr txBox="1"/>
          <p:nvPr>
            <p:ph type="title"/>
          </p:nvPr>
        </p:nvSpPr>
        <p:spPr>
          <a:prstGeom prst="rect">
            <a:avLst/>
          </a:prstGeom>
        </p:spPr>
        <p:txBody>
          <a:bodyPr/>
          <a:lstStyle>
            <a:lvl1pPr defTabSz="2316421">
              <a:defRPr sz="9500"/>
            </a:lvl1pPr>
          </a:lstStyle>
          <a:p>
            <a:pPr/>
            <a:r>
              <a:t>School Case-Study - Calling STAN</a:t>
            </a:r>
          </a:p>
        </p:txBody>
      </p:sp>
      <p:sp>
        <p:nvSpPr>
          <p:cNvPr id="347" name="Northern Ireland: CRN, PUL and unaffiliated, Irish, British, Northern Irish total 1.9m…"/>
          <p:cNvSpPr txBox="1"/>
          <p:nvPr>
            <p:ph type="body" sz="quarter" idx="1"/>
          </p:nvPr>
        </p:nvSpPr>
        <p:spPr>
          <a:xfrm>
            <a:off x="609398" y="4933795"/>
            <a:ext cx="6709238" cy="8856093"/>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Feed STAN code and data to the simulation via CmdStanModelI()</a:t>
            </a:r>
          </a:p>
        </p:txBody>
      </p:sp>
      <p:sp>
        <p:nvSpPr>
          <p:cNvPr id="348" name="Slide Number"/>
          <p:cNvSpPr txBox="1"/>
          <p:nvPr>
            <p:ph type="sldNum" sz="quarter" idx="2"/>
          </p:nvPr>
        </p:nvSpPr>
        <p:spPr>
          <a:xfrm>
            <a:off x="23558500" y="12458700"/>
            <a:ext cx="36779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49" name="school7.png" descr="school7.png"/>
          <p:cNvPicPr>
            <a:picLocks noChangeAspect="1"/>
          </p:cNvPicPr>
          <p:nvPr/>
        </p:nvPicPr>
        <p:blipFill>
          <a:blip r:embed="rId2">
            <a:extLst/>
          </a:blip>
          <a:stretch>
            <a:fillRect/>
          </a:stretch>
        </p:blipFill>
        <p:spPr>
          <a:xfrm>
            <a:off x="7832934" y="3670034"/>
            <a:ext cx="15211268" cy="9386879"/>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Who and Where are the Global Irish?"/>
          <p:cNvSpPr txBox="1"/>
          <p:nvPr>
            <p:ph type="title"/>
          </p:nvPr>
        </p:nvSpPr>
        <p:spPr>
          <a:prstGeom prst="rect">
            <a:avLst/>
          </a:prstGeom>
        </p:spPr>
        <p:txBody>
          <a:bodyPr/>
          <a:lstStyle>
            <a:lvl1pPr defTabSz="2316421">
              <a:defRPr sz="9500"/>
            </a:lvl1pPr>
          </a:lstStyle>
          <a:p>
            <a:pPr/>
            <a:r>
              <a:t>School Case-Study - Summary</a:t>
            </a:r>
          </a:p>
        </p:txBody>
      </p:sp>
      <p:sp>
        <p:nvSpPr>
          <p:cNvPr id="352" name="Slide Number"/>
          <p:cNvSpPr txBox="1"/>
          <p:nvPr>
            <p:ph type="sldNum" sz="quarter" idx="2"/>
          </p:nvPr>
        </p:nvSpPr>
        <p:spPr>
          <a:xfrm>
            <a:off x="23558500" y="12458700"/>
            <a:ext cx="4084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53" name="school11.png" descr="school11.png"/>
          <p:cNvPicPr>
            <a:picLocks noChangeAspect="1"/>
          </p:cNvPicPr>
          <p:nvPr/>
        </p:nvPicPr>
        <p:blipFill>
          <a:blip r:embed="rId2">
            <a:extLst/>
          </a:blip>
          <a:stretch>
            <a:fillRect/>
          </a:stretch>
        </p:blipFill>
        <p:spPr>
          <a:xfrm>
            <a:off x="6189808" y="5519263"/>
            <a:ext cx="17702362" cy="5591356"/>
          </a:xfrm>
          <a:prstGeom prst="rect">
            <a:avLst/>
          </a:prstGeom>
          <a:ln w="12700">
            <a:miter lim="400000"/>
          </a:ln>
        </p:spPr>
      </p:pic>
      <p:sp>
        <p:nvSpPr>
          <p:cNvPr id="354" name="Northern Ireland: CRN, PUL and unaffiliated, Irish, British, Northern Irish total 1.9m…"/>
          <p:cNvSpPr txBox="1"/>
          <p:nvPr>
            <p:ph type="body" sz="quarter" idx="1"/>
          </p:nvPr>
        </p:nvSpPr>
        <p:spPr>
          <a:xfrm>
            <a:off x="277643" y="4815311"/>
            <a:ext cx="5179749" cy="8132738"/>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Stats look close to those in the published model</a:t>
            </a:r>
          </a:p>
          <a:p>
            <a:pPr lvl="1" marL="782052" indent="-401052" defTabSz="2438337">
              <a:spcBef>
                <a:spcPts val="4700"/>
              </a:spcBef>
              <a:defRPr sz="4000">
                <a:latin typeface="Graphik Light"/>
                <a:ea typeface="Graphik Light"/>
                <a:cs typeface="Graphik Light"/>
                <a:sym typeface="Graphik Light"/>
              </a:defRPr>
            </a:pPr>
            <a:r>
              <a:t>R-hat shows good matching of variance in search within and across chains, a sign of a robust and wide search</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Who and Where are the Global Irish?"/>
          <p:cNvSpPr txBox="1"/>
          <p:nvPr>
            <p:ph type="title"/>
          </p:nvPr>
        </p:nvSpPr>
        <p:spPr>
          <a:prstGeom prst="rect">
            <a:avLst/>
          </a:prstGeom>
        </p:spPr>
        <p:txBody>
          <a:bodyPr/>
          <a:lstStyle>
            <a:lvl1pPr defTabSz="1922629">
              <a:defRPr spc="-83" sz="7885"/>
            </a:lvl1pPr>
          </a:lstStyle>
          <a:p>
            <a:pPr/>
            <a:r>
              <a:t>School Case-Study - Diagnostics WAIC and LOO</a:t>
            </a:r>
          </a:p>
        </p:txBody>
      </p:sp>
      <p:sp>
        <p:nvSpPr>
          <p:cNvPr id="357" name="Slide Number"/>
          <p:cNvSpPr txBox="1"/>
          <p:nvPr>
            <p:ph type="sldNum" sz="quarter" idx="2"/>
          </p:nvPr>
        </p:nvSpPr>
        <p:spPr>
          <a:xfrm>
            <a:off x="23558500" y="12458700"/>
            <a:ext cx="4198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58" name="school5.png" descr="school5.png"/>
          <p:cNvPicPr>
            <a:picLocks noChangeAspect="1"/>
          </p:cNvPicPr>
          <p:nvPr/>
        </p:nvPicPr>
        <p:blipFill>
          <a:blip r:embed="rId2">
            <a:extLst/>
          </a:blip>
          <a:stretch>
            <a:fillRect/>
          </a:stretch>
        </p:blipFill>
        <p:spPr>
          <a:xfrm>
            <a:off x="4318129" y="3193927"/>
            <a:ext cx="16618337" cy="9252111"/>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Who and Where are the Global Irish?"/>
          <p:cNvSpPr txBox="1"/>
          <p:nvPr>
            <p:ph type="title"/>
          </p:nvPr>
        </p:nvSpPr>
        <p:spPr>
          <a:prstGeom prst="rect">
            <a:avLst/>
          </a:prstGeom>
        </p:spPr>
        <p:txBody>
          <a:bodyPr/>
          <a:lstStyle>
            <a:lvl1pPr defTabSz="2293256">
              <a:defRPr spc="-99" sz="9405"/>
            </a:lvl1pPr>
          </a:lstStyle>
          <a:p>
            <a:pPr/>
            <a:r>
              <a:t>School Case-Study - Diagnostics - Graph</a:t>
            </a:r>
          </a:p>
        </p:txBody>
      </p:sp>
      <p:sp>
        <p:nvSpPr>
          <p:cNvPr id="361" name="Northern Ireland: CRN, PUL and unaffiliated, Irish, British, Northern Irish total 1.9m…"/>
          <p:cNvSpPr txBox="1"/>
          <p:nvPr>
            <p:ph type="body" sz="quarter" idx="1"/>
          </p:nvPr>
        </p:nvSpPr>
        <p:spPr>
          <a:xfrm>
            <a:off x="438131" y="4412465"/>
            <a:ext cx="5029734" cy="7349632"/>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Diagnostics - posterior v observations</a:t>
            </a:r>
          </a:p>
          <a:p>
            <a:pPr lvl="1" marL="782052" indent="-401052" defTabSz="2438337">
              <a:spcBef>
                <a:spcPts val="4700"/>
              </a:spcBef>
              <a:defRPr sz="4000">
                <a:latin typeface="Graphik Light"/>
                <a:ea typeface="Graphik Light"/>
                <a:cs typeface="Graphik Light"/>
                <a:sym typeface="Graphik Light"/>
              </a:defRPr>
            </a:pPr>
            <a:r>
              <a:t>Most commonly reported</a:t>
            </a:r>
          </a:p>
          <a:p>
            <a:pPr lvl="1" marL="782052" indent="-401052" defTabSz="2438337">
              <a:spcBef>
                <a:spcPts val="4700"/>
              </a:spcBef>
              <a:defRPr sz="4000">
                <a:latin typeface="Graphik Light"/>
                <a:ea typeface="Graphik Light"/>
                <a:cs typeface="Graphik Light"/>
                <a:sym typeface="Graphik Light"/>
              </a:defRPr>
            </a:pPr>
            <a:r>
              <a:t>This is from the STAN / ArviZ output</a:t>
            </a:r>
          </a:p>
        </p:txBody>
      </p:sp>
      <p:sp>
        <p:nvSpPr>
          <p:cNvPr id="362" name="Slide Number"/>
          <p:cNvSpPr txBox="1"/>
          <p:nvPr>
            <p:ph type="sldNum" sz="quarter" idx="2"/>
          </p:nvPr>
        </p:nvSpPr>
        <p:spPr>
          <a:xfrm>
            <a:off x="23558500" y="12458700"/>
            <a:ext cx="42189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63" name="school9.png" descr="school9.png"/>
          <p:cNvPicPr>
            <a:picLocks noChangeAspect="1"/>
          </p:cNvPicPr>
          <p:nvPr/>
        </p:nvPicPr>
        <p:blipFill>
          <a:blip r:embed="rId2">
            <a:extLst/>
          </a:blip>
          <a:stretch>
            <a:fillRect/>
          </a:stretch>
        </p:blipFill>
        <p:spPr>
          <a:xfrm>
            <a:off x="5645760" y="3516955"/>
            <a:ext cx="17598400" cy="8120929"/>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5" name="Who and Where are the Global Irish?"/>
          <p:cNvSpPr txBox="1"/>
          <p:nvPr>
            <p:ph type="title"/>
          </p:nvPr>
        </p:nvSpPr>
        <p:spPr>
          <a:prstGeom prst="rect">
            <a:avLst/>
          </a:prstGeom>
        </p:spPr>
        <p:txBody>
          <a:bodyPr/>
          <a:lstStyle>
            <a:lvl1pPr defTabSz="2316421">
              <a:defRPr sz="9500"/>
            </a:lvl1pPr>
          </a:lstStyle>
          <a:p>
            <a:pPr/>
            <a:r>
              <a:t>IEMAG Data</a:t>
            </a:r>
          </a:p>
        </p:txBody>
      </p:sp>
      <p:sp>
        <p:nvSpPr>
          <p:cNvPr id="366" name="Northern Ireland: CRN, PUL and unaffiliated, Irish, British, Northern Irish total 1.9m…"/>
          <p:cNvSpPr txBox="1"/>
          <p:nvPr>
            <p:ph type="body" sz="quarter" idx="1"/>
          </p:nvPr>
        </p:nvSpPr>
        <p:spPr>
          <a:xfrm>
            <a:off x="614080" y="2611509"/>
            <a:ext cx="6188764" cy="10287001"/>
          </a:xfrm>
          <a:prstGeom prst="rect">
            <a:avLst/>
          </a:prstGeom>
        </p:spPr>
        <p:txBody>
          <a:bodyPr lIns="50800" tIns="50800" rIns="50800" bIns="50800"/>
          <a:lstStyle/>
          <a:p>
            <a:pPr marL="401052" indent="-401052" defTabSz="2438337">
              <a:spcBef>
                <a:spcPts val="4700"/>
              </a:spcBef>
              <a:buSzPct val="100000"/>
              <a:buChar char="•"/>
              <a:defRPr sz="4000">
                <a:latin typeface="Graphik Light"/>
                <a:ea typeface="Graphik Light"/>
                <a:cs typeface="Graphik Light"/>
                <a:sym typeface="Graphik Light"/>
              </a:defRPr>
            </a:pPr>
            <a:r>
              <a:t>See Jupyter Notebook 4</a:t>
            </a:r>
          </a:p>
          <a:p>
            <a:pPr marL="401052" indent="-401052" defTabSz="2438337">
              <a:spcBef>
                <a:spcPts val="4700"/>
              </a:spcBef>
              <a:buSzPct val="100000"/>
              <a:buChar char="•"/>
              <a:defRPr sz="4000">
                <a:latin typeface="Graphik Light"/>
                <a:ea typeface="Graphik Light"/>
                <a:cs typeface="Graphik Light"/>
                <a:sym typeface="Graphik Light"/>
              </a:defRPr>
            </a:pPr>
            <a:r>
              <a:t>STAN - Seee STAN/CmdStanPy1.ipyn section ‘IEMAG Irish Pandemic Data’</a:t>
            </a:r>
          </a:p>
          <a:p>
            <a:pPr marL="401052" indent="-401052" defTabSz="2438337">
              <a:spcBef>
                <a:spcPts val="4700"/>
              </a:spcBef>
              <a:buSzPct val="100000"/>
              <a:buChar char="•"/>
              <a:defRPr sz="4000">
                <a:latin typeface="Graphik Light"/>
                <a:ea typeface="Graphik Light"/>
                <a:cs typeface="Graphik Light"/>
                <a:sym typeface="Graphik Light"/>
              </a:defRPr>
            </a:pPr>
            <a:r>
              <a:t>IEMAG models fitted in May and October</a:t>
            </a:r>
          </a:p>
          <a:p>
            <a:pPr marL="401052" indent="-401052" defTabSz="2438337">
              <a:spcBef>
                <a:spcPts val="4700"/>
              </a:spcBef>
              <a:buSzPct val="100000"/>
              <a:buChar char="•"/>
              <a:defRPr sz="4000">
                <a:latin typeface="Graphik Light"/>
                <a:ea typeface="Graphik Light"/>
                <a:cs typeface="Graphik Light"/>
                <a:sym typeface="Graphik Light"/>
              </a:defRPr>
            </a:pPr>
            <a:r>
              <a:t>Strong seasonality and effect from control measures</a:t>
            </a:r>
          </a:p>
        </p:txBody>
      </p:sp>
      <p:sp>
        <p:nvSpPr>
          <p:cNvPr id="367" name="Slide Number"/>
          <p:cNvSpPr txBox="1"/>
          <p:nvPr>
            <p:ph type="sldNum" sz="quarter" idx="2"/>
          </p:nvPr>
        </p:nvSpPr>
        <p:spPr>
          <a:xfrm>
            <a:off x="23558499" y="12458700"/>
            <a:ext cx="41681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68" name="irish1.png" descr="irish1.png"/>
          <p:cNvPicPr>
            <a:picLocks noChangeAspect="1"/>
          </p:cNvPicPr>
          <p:nvPr/>
        </p:nvPicPr>
        <p:blipFill>
          <a:blip r:embed="rId2">
            <a:extLst/>
          </a:blip>
          <a:stretch>
            <a:fillRect/>
          </a:stretch>
        </p:blipFill>
        <p:spPr>
          <a:xfrm>
            <a:off x="7196734" y="3891158"/>
            <a:ext cx="16399112" cy="7727704"/>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0" name="Who and Where are the Global Irish?"/>
          <p:cNvSpPr txBox="1"/>
          <p:nvPr>
            <p:ph type="title"/>
          </p:nvPr>
        </p:nvSpPr>
        <p:spPr>
          <a:prstGeom prst="rect">
            <a:avLst/>
          </a:prstGeom>
        </p:spPr>
        <p:txBody>
          <a:bodyPr/>
          <a:lstStyle>
            <a:lvl1pPr defTabSz="2316421">
              <a:defRPr sz="9500"/>
            </a:lvl1pPr>
          </a:lstStyle>
          <a:p>
            <a:pPr/>
            <a:r>
              <a:t>IEMAG Data  Run 1 - Summary Statistics</a:t>
            </a:r>
          </a:p>
        </p:txBody>
      </p:sp>
      <p:sp>
        <p:nvSpPr>
          <p:cNvPr id="371" name="Northern Ireland: CRN, PUL and unaffiliated, Irish, British, Northern Irish total 1.9m…"/>
          <p:cNvSpPr txBox="1"/>
          <p:nvPr>
            <p:ph type="body" sz="quarter" idx="1"/>
          </p:nvPr>
        </p:nvSpPr>
        <p:spPr>
          <a:xfrm>
            <a:off x="272253" y="4448352"/>
            <a:ext cx="6010952" cy="8186717"/>
          </a:xfrm>
          <a:prstGeom prst="rect">
            <a:avLst/>
          </a:prstGeom>
        </p:spPr>
        <p:txBody>
          <a:bodyPr lIns="50800" tIns="50800" rIns="50800" bIns="50800"/>
          <a:lstStyle/>
          <a:p>
            <a:pPr lvl="1" marL="610001" indent="-312821" defTabSz="1901903">
              <a:spcBef>
                <a:spcPts val="3600"/>
              </a:spcBef>
              <a:defRPr sz="3120">
                <a:latin typeface="Graphik Light"/>
                <a:ea typeface="Graphik Light"/>
                <a:cs typeface="Graphik Light"/>
                <a:sym typeface="Graphik Light"/>
              </a:defRPr>
            </a:pPr>
            <a:r>
              <a:t>First model sir_incidence3.stan</a:t>
            </a:r>
          </a:p>
          <a:p>
            <a:pPr lvl="1" marL="610001" indent="-312821" defTabSz="1901903">
              <a:spcBef>
                <a:spcPts val="3600"/>
              </a:spcBef>
              <a:defRPr sz="3120">
                <a:latin typeface="Graphik Light"/>
                <a:ea typeface="Graphik Light"/>
                <a:cs typeface="Graphik Light"/>
                <a:sym typeface="Graphik Light"/>
              </a:defRPr>
            </a:pPr>
            <a:r>
              <a:t>Use same priors as Swiss data in Simonova et al. </a:t>
            </a:r>
          </a:p>
          <a:p>
            <a:pPr lvl="1" marL="610001" indent="-312821" defTabSz="1901903">
              <a:spcBef>
                <a:spcPts val="3600"/>
              </a:spcBef>
              <a:defRPr sz="3120">
                <a:latin typeface="Graphik Light"/>
                <a:ea typeface="Graphik Light"/>
                <a:cs typeface="Graphik Light"/>
                <a:sym typeface="Graphik Light"/>
              </a:defRPr>
            </a:pPr>
            <a:r>
              <a:t> beta ~ normal(2, 1), </a:t>
            </a:r>
          </a:p>
          <a:p>
            <a:pPr lvl="1" marL="610001" indent="-312821" defTabSz="1901903">
              <a:spcBef>
                <a:spcPts val="3600"/>
              </a:spcBef>
              <a:defRPr sz="3120">
                <a:latin typeface="Graphik Light"/>
                <a:ea typeface="Graphik Light"/>
                <a:cs typeface="Graphik Light"/>
                <a:sym typeface="Graphik Light"/>
              </a:defRPr>
            </a:pPr>
            <a:r>
              <a:t> gamma ~ normal(0.4, 0.5);</a:t>
            </a:r>
          </a:p>
          <a:p>
            <a:pPr lvl="1" marL="610001" indent="-312821" defTabSz="1901903">
              <a:spcBef>
                <a:spcPts val="3600"/>
              </a:spcBef>
              <a:defRPr sz="3120">
                <a:latin typeface="Graphik Light"/>
                <a:ea typeface="Graphik Light"/>
                <a:cs typeface="Graphik Light"/>
                <a:sym typeface="Graphik Light"/>
              </a:defRPr>
            </a:pPr>
            <a:r>
              <a:t>  phi_inv ~ exponential(5);</a:t>
            </a:r>
          </a:p>
          <a:p>
            <a:pPr lvl="1" marL="610001" indent="-312821" defTabSz="1901903">
              <a:spcBef>
                <a:spcPts val="3600"/>
              </a:spcBef>
              <a:defRPr sz="3120">
                <a:latin typeface="Graphik Light"/>
                <a:ea typeface="Graphik Light"/>
                <a:cs typeface="Graphik Light"/>
                <a:sym typeface="Graphik Light"/>
              </a:defRPr>
            </a:pPr>
            <a:r>
              <a:t>Estimates show very high r_hat, chains don’t converge</a:t>
            </a:r>
          </a:p>
          <a:p>
            <a:pPr lvl="1" marL="610001" indent="-312821" defTabSz="1901903">
              <a:spcBef>
                <a:spcPts val="3600"/>
              </a:spcBef>
              <a:defRPr sz="3120">
                <a:latin typeface="Graphik Light"/>
                <a:ea typeface="Graphik Light"/>
                <a:cs typeface="Graphik Light"/>
                <a:sym typeface="Graphik Light"/>
              </a:defRPr>
            </a:pPr>
            <a:r>
              <a:t>WAIC -1967</a:t>
            </a:r>
          </a:p>
        </p:txBody>
      </p:sp>
      <p:sp>
        <p:nvSpPr>
          <p:cNvPr id="372" name="Slide Number"/>
          <p:cNvSpPr txBox="1"/>
          <p:nvPr>
            <p:ph type="sldNum" sz="quarter" idx="2"/>
          </p:nvPr>
        </p:nvSpPr>
        <p:spPr>
          <a:xfrm>
            <a:off x="23558500" y="12458700"/>
            <a:ext cx="42494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73" name="irish2.png" descr="irish2.png"/>
          <p:cNvPicPr>
            <a:picLocks noChangeAspect="1"/>
          </p:cNvPicPr>
          <p:nvPr/>
        </p:nvPicPr>
        <p:blipFill>
          <a:blip r:embed="rId2">
            <a:extLst/>
          </a:blip>
          <a:stretch>
            <a:fillRect/>
          </a:stretch>
        </p:blipFill>
        <p:spPr>
          <a:xfrm>
            <a:off x="6809828" y="5086511"/>
            <a:ext cx="15890010" cy="6910398"/>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Who and Where are the Global Irish?"/>
          <p:cNvSpPr txBox="1"/>
          <p:nvPr>
            <p:ph type="title"/>
          </p:nvPr>
        </p:nvSpPr>
        <p:spPr>
          <a:prstGeom prst="rect">
            <a:avLst/>
          </a:prstGeom>
        </p:spPr>
        <p:txBody>
          <a:bodyPr/>
          <a:lstStyle>
            <a:lvl1pPr defTabSz="2316421">
              <a:defRPr sz="9500"/>
            </a:lvl1pPr>
          </a:lstStyle>
          <a:p>
            <a:pPr/>
            <a:r>
              <a:t>IEMAG Data  Run 1 - Summary Statistics</a:t>
            </a:r>
          </a:p>
        </p:txBody>
      </p:sp>
      <p:sp>
        <p:nvSpPr>
          <p:cNvPr id="376" name="Northern Ireland: CRN, PUL and unaffiliated, Irish, British, Northern Irish total 1.9m…"/>
          <p:cNvSpPr txBox="1"/>
          <p:nvPr>
            <p:ph type="body" sz="quarter" idx="1"/>
          </p:nvPr>
        </p:nvSpPr>
        <p:spPr>
          <a:xfrm>
            <a:off x="272253" y="4448352"/>
            <a:ext cx="6010952" cy="8186717"/>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Trace diagrams show no distribution of estimates</a:t>
            </a:r>
          </a:p>
          <a:p>
            <a:pPr lvl="1" marL="782052" indent="-401052" defTabSz="2438337">
              <a:spcBef>
                <a:spcPts val="4700"/>
              </a:spcBef>
              <a:defRPr sz="4000">
                <a:latin typeface="Graphik Light"/>
                <a:ea typeface="Graphik Light"/>
                <a:cs typeface="Graphik Light"/>
                <a:sym typeface="Graphik Light"/>
              </a:defRPr>
            </a:pPr>
            <a:r>
              <a:t>Split chain 4 shows data may be multimodal non-stationary</a:t>
            </a:r>
          </a:p>
        </p:txBody>
      </p:sp>
      <p:sp>
        <p:nvSpPr>
          <p:cNvPr id="377" name="Slide Number"/>
          <p:cNvSpPr txBox="1"/>
          <p:nvPr>
            <p:ph type="sldNum" sz="quarter" idx="2"/>
          </p:nvPr>
        </p:nvSpPr>
        <p:spPr>
          <a:xfrm>
            <a:off x="23558500" y="12458700"/>
            <a:ext cx="3947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78" name="irish7.png" descr="irish7.png"/>
          <p:cNvPicPr>
            <a:picLocks noChangeAspect="1"/>
          </p:cNvPicPr>
          <p:nvPr/>
        </p:nvPicPr>
        <p:blipFill>
          <a:blip r:embed="rId2">
            <a:extLst/>
          </a:blip>
          <a:stretch>
            <a:fillRect/>
          </a:stretch>
        </p:blipFill>
        <p:spPr>
          <a:xfrm>
            <a:off x="7719380" y="3083984"/>
            <a:ext cx="14402944" cy="9635418"/>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Who and Where are the Global Irish?"/>
          <p:cNvSpPr txBox="1"/>
          <p:nvPr>
            <p:ph type="title"/>
          </p:nvPr>
        </p:nvSpPr>
        <p:spPr>
          <a:prstGeom prst="rect">
            <a:avLst/>
          </a:prstGeom>
        </p:spPr>
        <p:txBody>
          <a:bodyPr/>
          <a:lstStyle>
            <a:lvl1pPr defTabSz="1899465">
              <a:defRPr spc="-82" sz="7790"/>
            </a:lvl1pPr>
          </a:lstStyle>
          <a:p>
            <a:pPr/>
            <a:r>
              <a:t>IEMAG Data  Run 2 - Irish Data with Tighter Priors</a:t>
            </a:r>
          </a:p>
        </p:txBody>
      </p:sp>
      <p:sp>
        <p:nvSpPr>
          <p:cNvPr id="381" name="Northern Ireland: CRN, PUL and unaffiliated, Irish, British, Northern Irish total 1.9m…"/>
          <p:cNvSpPr txBox="1"/>
          <p:nvPr>
            <p:ph type="body" sz="quarter" idx="1"/>
          </p:nvPr>
        </p:nvSpPr>
        <p:spPr>
          <a:xfrm>
            <a:off x="272253" y="4448352"/>
            <a:ext cx="6010952" cy="8186717"/>
          </a:xfrm>
          <a:prstGeom prst="rect">
            <a:avLst/>
          </a:prstGeom>
        </p:spPr>
        <p:txBody>
          <a:bodyPr lIns="50800" tIns="50800" rIns="50800" bIns="50800"/>
          <a:lstStyle/>
          <a:p>
            <a:pPr lvl="1" marL="539616" indent="-276726" defTabSz="1682453">
              <a:spcBef>
                <a:spcPts val="3200"/>
              </a:spcBef>
              <a:defRPr sz="2760">
                <a:latin typeface="Graphik Light"/>
                <a:ea typeface="Graphik Light"/>
                <a:cs typeface="Graphik Light"/>
                <a:sym typeface="Graphik Light"/>
              </a:defRPr>
            </a:pPr>
            <a:r>
              <a:t>Second model sir_incidence4.stan</a:t>
            </a:r>
          </a:p>
          <a:p>
            <a:pPr lvl="1" marL="539616" indent="-276726" defTabSz="1682453">
              <a:spcBef>
                <a:spcPts val="3200"/>
              </a:spcBef>
              <a:defRPr sz="2760">
                <a:latin typeface="Graphik Light"/>
                <a:ea typeface="Graphik Light"/>
                <a:cs typeface="Graphik Light"/>
                <a:sym typeface="Graphik Light"/>
              </a:defRPr>
            </a:pPr>
            <a:r>
              <a:t>Use tighter priors as in Simonova et al. </a:t>
            </a:r>
          </a:p>
          <a:p>
            <a:pPr lvl="1" marL="539616" indent="-276726" defTabSz="1682453">
              <a:spcBef>
                <a:spcPts val="3200"/>
              </a:spcBef>
              <a:defRPr sz="2760">
                <a:latin typeface="Graphik Light"/>
                <a:ea typeface="Graphik Light"/>
                <a:cs typeface="Graphik Light"/>
                <a:sym typeface="Graphik Light"/>
              </a:defRPr>
            </a:pPr>
            <a:r>
              <a:t>beta ~ normal(2, 0.5);</a:t>
            </a:r>
          </a:p>
          <a:p>
            <a:pPr lvl="1" marL="539616" indent="-276726" defTabSz="1682453">
              <a:spcBef>
                <a:spcPts val="3200"/>
              </a:spcBef>
              <a:defRPr sz="2760">
                <a:latin typeface="Graphik Light"/>
                <a:ea typeface="Graphik Light"/>
                <a:cs typeface="Graphik Light"/>
                <a:sym typeface="Graphik Light"/>
              </a:defRPr>
            </a:pPr>
            <a:r>
              <a:t>gamma ~ normal(0.4, 0.2);</a:t>
            </a:r>
          </a:p>
          <a:p>
            <a:pPr lvl="1" marL="539616" indent="-276726" defTabSz="1682453">
              <a:spcBef>
                <a:spcPts val="3200"/>
              </a:spcBef>
              <a:defRPr sz="2760">
                <a:latin typeface="Graphik Light"/>
                <a:ea typeface="Graphik Light"/>
                <a:cs typeface="Graphik Light"/>
                <a:sym typeface="Graphik Light"/>
              </a:defRPr>
            </a:pPr>
            <a:r>
              <a:t>phi_inv ~ exponential(10);</a:t>
            </a:r>
          </a:p>
          <a:p>
            <a:pPr lvl="1" marL="539616" indent="-276726" defTabSz="1682453">
              <a:spcBef>
                <a:spcPts val="3200"/>
              </a:spcBef>
              <a:defRPr sz="2760">
                <a:latin typeface="Graphik Light"/>
                <a:ea typeface="Graphik Light"/>
                <a:cs typeface="Graphik Light"/>
                <a:sym typeface="Graphik Light"/>
              </a:defRPr>
            </a:pPr>
            <a:r>
              <a:t>Estimates show very high r_hat, chains don’t converge</a:t>
            </a:r>
          </a:p>
          <a:p>
            <a:pPr lvl="1" marL="539616" indent="-276726" defTabSz="1682453">
              <a:spcBef>
                <a:spcPts val="3200"/>
              </a:spcBef>
              <a:defRPr sz="2760">
                <a:latin typeface="Graphik Light"/>
                <a:ea typeface="Graphik Light"/>
                <a:cs typeface="Graphik Light"/>
                <a:sym typeface="Graphik Light"/>
              </a:defRPr>
            </a:pPr>
            <a:r>
              <a:t>Still very bad</a:t>
            </a:r>
          </a:p>
          <a:p>
            <a:pPr lvl="1" marL="539616" indent="-276726" defTabSz="1682453">
              <a:spcBef>
                <a:spcPts val="3200"/>
              </a:spcBef>
              <a:defRPr sz="2760">
                <a:latin typeface="Graphik Light"/>
                <a:ea typeface="Graphik Light"/>
                <a:cs typeface="Graphik Light"/>
                <a:sym typeface="Graphik Light"/>
              </a:defRPr>
            </a:pPr>
            <a:r>
              <a:t>WAIC -2007</a:t>
            </a:r>
          </a:p>
        </p:txBody>
      </p:sp>
      <p:sp>
        <p:nvSpPr>
          <p:cNvPr id="382" name="Slide Number"/>
          <p:cNvSpPr txBox="1"/>
          <p:nvPr>
            <p:ph type="sldNum" sz="quarter" idx="2"/>
          </p:nvPr>
        </p:nvSpPr>
        <p:spPr>
          <a:xfrm>
            <a:off x="23558500" y="12458700"/>
            <a:ext cx="42189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83" name="irish4.png" descr="irish4.png"/>
          <p:cNvPicPr>
            <a:picLocks noChangeAspect="1"/>
          </p:cNvPicPr>
          <p:nvPr/>
        </p:nvPicPr>
        <p:blipFill>
          <a:blip r:embed="rId2">
            <a:extLst/>
          </a:blip>
          <a:stretch>
            <a:fillRect/>
          </a:stretch>
        </p:blipFill>
        <p:spPr>
          <a:xfrm>
            <a:off x="7226151" y="4039442"/>
            <a:ext cx="16222895" cy="7298367"/>
          </a:xfrm>
          <a:prstGeom prst="rect">
            <a:avLst/>
          </a:prstGeom>
          <a:ln w="12700">
            <a:miter lim="400000"/>
          </a:ln>
        </p:spPr>
      </p:pic>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Who and Where are the Global Irish?"/>
          <p:cNvSpPr txBox="1"/>
          <p:nvPr>
            <p:ph type="title"/>
          </p:nvPr>
        </p:nvSpPr>
        <p:spPr>
          <a:prstGeom prst="rect">
            <a:avLst/>
          </a:prstGeom>
        </p:spPr>
        <p:txBody>
          <a:bodyPr/>
          <a:lstStyle>
            <a:lvl1pPr defTabSz="2084778">
              <a:defRPr spc="-90" sz="8550"/>
            </a:lvl1pPr>
          </a:lstStyle>
          <a:p>
            <a:pPr/>
            <a:r>
              <a:t>IEMAG Data  Run 3 - Irish Data, first 3 months</a:t>
            </a:r>
          </a:p>
        </p:txBody>
      </p:sp>
      <p:sp>
        <p:nvSpPr>
          <p:cNvPr id="386" name="Northern Ireland: CRN, PUL and unaffiliated, Irish, British, Northern Irish total 1.9m…"/>
          <p:cNvSpPr txBox="1"/>
          <p:nvPr>
            <p:ph type="body" sz="quarter" idx="1"/>
          </p:nvPr>
        </p:nvSpPr>
        <p:spPr>
          <a:xfrm>
            <a:off x="272253" y="4448352"/>
            <a:ext cx="6010952" cy="8186717"/>
          </a:xfrm>
          <a:prstGeom prst="rect">
            <a:avLst/>
          </a:prstGeom>
        </p:spPr>
        <p:txBody>
          <a:bodyPr lIns="50800" tIns="50800" rIns="50800" bIns="50800"/>
          <a:lstStyle/>
          <a:p>
            <a:pPr lvl="1" marL="641283" indent="-328863" defTabSz="1999437">
              <a:spcBef>
                <a:spcPts val="3800"/>
              </a:spcBef>
              <a:defRPr sz="3280">
                <a:latin typeface="Graphik Light"/>
                <a:ea typeface="Graphik Light"/>
                <a:cs typeface="Graphik Light"/>
                <a:sym typeface="Graphik Light"/>
              </a:defRPr>
            </a:pPr>
            <a:r>
              <a:t>Original priors model sir_incidence3.stan</a:t>
            </a:r>
          </a:p>
          <a:p>
            <a:pPr lvl="1" marL="641283" indent="-328863" defTabSz="1999437">
              <a:spcBef>
                <a:spcPts val="3800"/>
              </a:spcBef>
              <a:defRPr sz="3280">
                <a:latin typeface="Graphik Light"/>
                <a:ea typeface="Graphik Light"/>
                <a:cs typeface="Graphik Light"/>
                <a:sym typeface="Graphik Light"/>
              </a:defRPr>
            </a:pPr>
            <a:r>
              <a:t>Avoid periods of lockdowns and reinfections handled with extra parameters in Simonova et al. </a:t>
            </a:r>
          </a:p>
          <a:p>
            <a:pPr lvl="1" marL="641283" indent="-328863" defTabSz="1999437">
              <a:spcBef>
                <a:spcPts val="3800"/>
              </a:spcBef>
              <a:defRPr sz="3280">
                <a:latin typeface="Graphik Light"/>
                <a:ea typeface="Graphik Light"/>
                <a:cs typeface="Graphik Light"/>
                <a:sym typeface="Graphik Light"/>
              </a:defRPr>
            </a:pPr>
            <a:r>
              <a:t>Estimates show high but not absurd  r_hat</a:t>
            </a:r>
          </a:p>
          <a:p>
            <a:pPr lvl="1" marL="641283" indent="-328863" defTabSz="1999437">
              <a:spcBef>
                <a:spcPts val="3800"/>
              </a:spcBef>
              <a:defRPr sz="3280">
                <a:latin typeface="Graphik Light"/>
                <a:ea typeface="Graphik Light"/>
                <a:cs typeface="Graphik Light"/>
                <a:sym typeface="Graphik Light"/>
              </a:defRPr>
            </a:pPr>
            <a:r>
              <a:t>Not great</a:t>
            </a:r>
          </a:p>
          <a:p>
            <a:pPr lvl="1" marL="641283" indent="-328863" defTabSz="1999437">
              <a:spcBef>
                <a:spcPts val="3800"/>
              </a:spcBef>
              <a:defRPr sz="3280">
                <a:latin typeface="Graphik Light"/>
                <a:ea typeface="Graphik Light"/>
                <a:cs typeface="Graphik Light"/>
                <a:sym typeface="Graphik Light"/>
              </a:defRPr>
            </a:pPr>
            <a:r>
              <a:t>WAIC -58</a:t>
            </a:r>
          </a:p>
        </p:txBody>
      </p:sp>
      <p:sp>
        <p:nvSpPr>
          <p:cNvPr id="387" name="Slide Number"/>
          <p:cNvSpPr txBox="1"/>
          <p:nvPr>
            <p:ph type="sldNum" sz="quarter" idx="2"/>
          </p:nvPr>
        </p:nvSpPr>
        <p:spPr>
          <a:xfrm>
            <a:off x="23558500" y="12458700"/>
            <a:ext cx="4251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88" name="irish6.png" descr="irish6.png"/>
          <p:cNvPicPr>
            <a:picLocks noChangeAspect="1"/>
          </p:cNvPicPr>
          <p:nvPr/>
        </p:nvPicPr>
        <p:blipFill>
          <a:blip r:embed="rId2">
            <a:extLst/>
          </a:blip>
          <a:stretch>
            <a:fillRect/>
          </a:stretch>
        </p:blipFill>
        <p:spPr>
          <a:xfrm>
            <a:off x="6646580" y="4673116"/>
            <a:ext cx="16610666" cy="6218353"/>
          </a:xfrm>
          <a:prstGeom prst="rect">
            <a:avLst/>
          </a:prstGeom>
          <a:ln w="12700">
            <a:miter lim="400000"/>
          </a:ln>
        </p:spPr>
      </p:pic>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Who and Where are the Global Irish?"/>
          <p:cNvSpPr txBox="1"/>
          <p:nvPr>
            <p:ph type="title"/>
          </p:nvPr>
        </p:nvSpPr>
        <p:spPr>
          <a:prstGeom prst="rect">
            <a:avLst/>
          </a:prstGeom>
        </p:spPr>
        <p:txBody>
          <a:bodyPr/>
          <a:lstStyle>
            <a:lvl1pPr defTabSz="1575166">
              <a:defRPr spc="-68" sz="6460"/>
            </a:lvl1pPr>
          </a:lstStyle>
          <a:p>
            <a:pPr/>
            <a:r>
              <a:t>IEMAG Data  Run 4 - Irish Data, first 3 months, tighter priors</a:t>
            </a:r>
          </a:p>
        </p:txBody>
      </p:sp>
      <p:sp>
        <p:nvSpPr>
          <p:cNvPr id="391" name="Northern Ireland: CRN, PUL and unaffiliated, Irish, British, Northern Irish total 1.9m…"/>
          <p:cNvSpPr txBox="1"/>
          <p:nvPr>
            <p:ph type="body" sz="quarter" idx="1"/>
          </p:nvPr>
        </p:nvSpPr>
        <p:spPr>
          <a:xfrm>
            <a:off x="272253" y="4461052"/>
            <a:ext cx="6010952" cy="8186717"/>
          </a:xfrm>
          <a:prstGeom prst="rect">
            <a:avLst/>
          </a:prstGeom>
        </p:spPr>
        <p:txBody>
          <a:bodyPr lIns="50800" tIns="50800" rIns="50800" bIns="50800"/>
          <a:lstStyle/>
          <a:p>
            <a:pPr lvl="1" marL="641283" indent="-328863" defTabSz="1999437">
              <a:spcBef>
                <a:spcPts val="3800"/>
              </a:spcBef>
              <a:defRPr sz="3280">
                <a:latin typeface="Graphik Light"/>
                <a:ea typeface="Graphik Light"/>
                <a:cs typeface="Graphik Light"/>
                <a:sym typeface="Graphik Light"/>
              </a:defRPr>
            </a:pPr>
            <a:r>
              <a:t>Original priors model sir_incidence3.stan</a:t>
            </a:r>
          </a:p>
          <a:p>
            <a:pPr lvl="1" marL="641283" indent="-328863" defTabSz="1999437">
              <a:spcBef>
                <a:spcPts val="3800"/>
              </a:spcBef>
              <a:defRPr sz="3280">
                <a:latin typeface="Graphik Light"/>
                <a:ea typeface="Graphik Light"/>
                <a:cs typeface="Graphik Light"/>
                <a:sym typeface="Graphik Light"/>
              </a:defRPr>
            </a:pPr>
            <a:r>
              <a:t>Avoid periods of lockdowns and reinfections handled with extra parameters in Simonova et al. </a:t>
            </a:r>
          </a:p>
          <a:p>
            <a:pPr lvl="1" marL="641283" indent="-328863" defTabSz="1999437">
              <a:spcBef>
                <a:spcPts val="3800"/>
              </a:spcBef>
              <a:defRPr sz="3280">
                <a:latin typeface="Graphik Light"/>
                <a:ea typeface="Graphik Light"/>
                <a:cs typeface="Graphik Light"/>
                <a:sym typeface="Graphik Light"/>
              </a:defRPr>
            </a:pPr>
            <a:r>
              <a:t>Estimates show high but not absurd  r_hat</a:t>
            </a:r>
          </a:p>
          <a:p>
            <a:pPr lvl="1" marL="641283" indent="-328863" defTabSz="1999437">
              <a:spcBef>
                <a:spcPts val="3800"/>
              </a:spcBef>
              <a:defRPr sz="3280">
                <a:latin typeface="Graphik Light"/>
                <a:ea typeface="Graphik Light"/>
                <a:cs typeface="Graphik Light"/>
                <a:sym typeface="Graphik Light"/>
              </a:defRPr>
            </a:pPr>
            <a:r>
              <a:t>Worse again</a:t>
            </a:r>
          </a:p>
          <a:p>
            <a:pPr lvl="1" marL="641283" indent="-328863" defTabSz="1999437">
              <a:spcBef>
                <a:spcPts val="3800"/>
              </a:spcBef>
              <a:defRPr sz="3280">
                <a:latin typeface="Graphik Light"/>
                <a:ea typeface="Graphik Light"/>
                <a:cs typeface="Graphik Light"/>
                <a:sym typeface="Graphik Light"/>
              </a:defRPr>
            </a:pPr>
            <a:r>
              <a:t>WAIC -428</a:t>
            </a:r>
          </a:p>
        </p:txBody>
      </p:sp>
      <p:sp>
        <p:nvSpPr>
          <p:cNvPr id="392" name="Slide Number"/>
          <p:cNvSpPr txBox="1"/>
          <p:nvPr>
            <p:ph type="sldNum" sz="quarter" idx="2"/>
          </p:nvPr>
        </p:nvSpPr>
        <p:spPr>
          <a:xfrm>
            <a:off x="23558499" y="12458700"/>
            <a:ext cx="442723"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93" name="irish6.png" descr="irish6.png"/>
          <p:cNvPicPr>
            <a:picLocks noChangeAspect="1"/>
          </p:cNvPicPr>
          <p:nvPr/>
        </p:nvPicPr>
        <p:blipFill>
          <a:blip r:embed="rId2">
            <a:extLst/>
          </a:blip>
          <a:stretch>
            <a:fillRect/>
          </a:stretch>
        </p:blipFill>
        <p:spPr>
          <a:xfrm>
            <a:off x="6646580" y="4673116"/>
            <a:ext cx="16610666" cy="6218353"/>
          </a:xfrm>
          <a:prstGeom prst="rect">
            <a:avLst/>
          </a:prstGeom>
          <a:ln w="12700">
            <a:miter lim="400000"/>
          </a:ln>
        </p:spPr>
      </p:pic>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5" name="Who and Where are the Global Irish?"/>
          <p:cNvSpPr txBox="1"/>
          <p:nvPr>
            <p:ph type="title"/>
          </p:nvPr>
        </p:nvSpPr>
        <p:spPr>
          <a:prstGeom prst="rect">
            <a:avLst/>
          </a:prstGeom>
        </p:spPr>
        <p:txBody>
          <a:bodyPr/>
          <a:lstStyle>
            <a:lvl1pPr defTabSz="2316421">
              <a:defRPr sz="9500"/>
            </a:lvl1pPr>
          </a:lstStyle>
          <a:p>
            <a:pPr/>
            <a:r>
              <a:t>IEMAG Data Model Outcomes</a:t>
            </a:r>
          </a:p>
        </p:txBody>
      </p:sp>
      <p:sp>
        <p:nvSpPr>
          <p:cNvPr id="396" name="Northern Ireland: CRN, PUL and unaffiliated, Irish, British, Northern Irish total 1.9m…"/>
          <p:cNvSpPr txBox="1"/>
          <p:nvPr>
            <p:ph type="body" idx="1"/>
          </p:nvPr>
        </p:nvSpPr>
        <p:spPr>
          <a:xfrm>
            <a:off x="1206500" y="2729993"/>
            <a:ext cx="20980400" cy="10287001"/>
          </a:xfrm>
          <a:prstGeom prst="rect">
            <a:avLst/>
          </a:prstGeom>
        </p:spPr>
        <p:txBody>
          <a:bodyPr lIns="50800" tIns="50800" rIns="50800" bIns="50800"/>
          <a:lstStyle/>
          <a:p>
            <a:pPr marL="401052" indent="-401052" defTabSz="2438337">
              <a:spcBef>
                <a:spcPts val="4700"/>
              </a:spcBef>
              <a:buSzPct val="100000"/>
              <a:buChar char="•"/>
              <a:defRPr sz="4000">
                <a:latin typeface="Graphik Light"/>
                <a:ea typeface="Graphik Light"/>
                <a:cs typeface="Graphik Light"/>
                <a:sym typeface="Graphik Light"/>
              </a:defRPr>
            </a:pPr>
            <a:r>
              <a:t>The fit for the simple PYMC model is very poor</a:t>
            </a:r>
          </a:p>
          <a:p>
            <a:pPr marL="401052" indent="-401052" defTabSz="2438337">
              <a:spcBef>
                <a:spcPts val="4700"/>
              </a:spcBef>
              <a:buSzPct val="100000"/>
              <a:buChar char="•"/>
              <a:defRPr sz="4000">
                <a:latin typeface="Graphik Light"/>
                <a:ea typeface="Graphik Light"/>
                <a:cs typeface="Graphik Light"/>
                <a:sym typeface="Graphik Light"/>
              </a:defRPr>
            </a:pPr>
            <a:r>
              <a:t>This was not, as I thought first, a bug, but a misspecification of the model</a:t>
            </a:r>
          </a:p>
          <a:p>
            <a:pPr marL="401052" indent="-401052" defTabSz="2438337">
              <a:spcBef>
                <a:spcPts val="4700"/>
              </a:spcBef>
              <a:buSzPct val="100000"/>
              <a:buChar char="•"/>
              <a:defRPr sz="4000">
                <a:latin typeface="Graphik Light"/>
                <a:ea typeface="Graphik Light"/>
                <a:cs typeface="Graphik Light"/>
                <a:sym typeface="Graphik Light"/>
              </a:defRPr>
            </a:pPr>
            <a:r>
              <a:t>Tightening the prior conditions led to better performance on the sampling Rhat and WAIC</a:t>
            </a:r>
          </a:p>
          <a:p>
            <a:pPr marL="401052" indent="-401052" defTabSz="2438337">
              <a:spcBef>
                <a:spcPts val="4700"/>
              </a:spcBef>
              <a:buSzPct val="100000"/>
              <a:buChar char="•"/>
              <a:defRPr sz="4000">
                <a:latin typeface="Graphik Light"/>
                <a:ea typeface="Graphik Light"/>
                <a:cs typeface="Graphik Light"/>
                <a:sym typeface="Graphik Light"/>
              </a:defRPr>
            </a:pPr>
            <a:r>
              <a:t>Moving to estimation from Feb to Oct 2020 to within a narrower period of 3 months' data, initial spread, peak, then fall in summer and autumn, performed better this way also also, likely due to stationary in the data</a:t>
            </a:r>
          </a:p>
          <a:p>
            <a:pPr marL="401052" indent="-401052" defTabSz="2438337">
              <a:spcBef>
                <a:spcPts val="4700"/>
              </a:spcBef>
              <a:buSzPct val="100000"/>
              <a:buChar char="•"/>
              <a:defRPr sz="4000">
                <a:latin typeface="Graphik Light"/>
                <a:ea typeface="Graphik Light"/>
                <a:cs typeface="Graphik Light"/>
                <a:sym typeface="Graphik Light"/>
              </a:defRPr>
            </a:pPr>
            <a:r>
              <a:t>The fit is not perfect, but the process seems to be productive; more factors should improve performance</a:t>
            </a:r>
          </a:p>
        </p:txBody>
      </p:sp>
      <p:sp>
        <p:nvSpPr>
          <p:cNvPr id="397" name="Slide Number"/>
          <p:cNvSpPr txBox="1"/>
          <p:nvPr>
            <p:ph type="sldNum" sz="quarter" idx="2"/>
          </p:nvPr>
        </p:nvSpPr>
        <p:spPr>
          <a:xfrm>
            <a:off x="23558500" y="12458700"/>
            <a:ext cx="36982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Who and Where are the Global Irish?"/>
          <p:cNvSpPr txBox="1"/>
          <p:nvPr>
            <p:ph type="title"/>
          </p:nvPr>
        </p:nvSpPr>
        <p:spPr>
          <a:xfrm>
            <a:off x="1206500" y="582847"/>
            <a:ext cx="21971000" cy="1689101"/>
          </a:xfrm>
          <a:prstGeom prst="rect">
            <a:avLst/>
          </a:prstGeom>
        </p:spPr>
        <p:txBody>
          <a:bodyPr/>
          <a:lstStyle>
            <a:lvl1pPr defTabSz="2316421">
              <a:defRPr sz="9500"/>
            </a:lvl1pPr>
          </a:lstStyle>
          <a:p>
            <a:pPr/>
            <a:r>
              <a:t>Next Steps</a:t>
            </a:r>
          </a:p>
        </p:txBody>
      </p:sp>
      <p:sp>
        <p:nvSpPr>
          <p:cNvPr id="400" name="Northern Ireland: CRN, PUL and unaffiliated, Irish, British, Northern Irish total 1.9m…"/>
          <p:cNvSpPr txBox="1"/>
          <p:nvPr>
            <p:ph type="body" sz="quarter" idx="1"/>
          </p:nvPr>
        </p:nvSpPr>
        <p:spPr>
          <a:xfrm>
            <a:off x="1346200" y="2729993"/>
            <a:ext cx="8021271" cy="8256014"/>
          </a:xfrm>
          <a:prstGeom prst="rect">
            <a:avLst/>
          </a:prstGeom>
        </p:spPr>
        <p:txBody>
          <a:bodyPr lIns="50800" tIns="50800" rIns="50800" bIns="50800"/>
          <a:lstStyle/>
          <a:p>
            <a:pPr marL="302293" indent="-302293" defTabSz="1633686">
              <a:spcBef>
                <a:spcPts val="3100"/>
              </a:spcBef>
              <a:buSzPct val="100000"/>
              <a:buChar char="•"/>
              <a:defRPr sz="3015">
                <a:latin typeface="Graphik Light"/>
                <a:ea typeface="Graphik Light"/>
                <a:cs typeface="Graphik Light"/>
                <a:sym typeface="Graphik Light"/>
              </a:defRPr>
            </a:pPr>
            <a:r>
              <a:t>PyMC and STAN</a:t>
            </a:r>
          </a:p>
          <a:p>
            <a:pPr marL="302293" indent="-302293" defTabSz="1633686">
              <a:spcBef>
                <a:spcPts val="3100"/>
              </a:spcBef>
              <a:buSzPct val="100000"/>
              <a:buChar char="•"/>
              <a:defRPr sz="3015">
                <a:latin typeface="Graphik Light"/>
                <a:ea typeface="Graphik Light"/>
                <a:cs typeface="Graphik Light"/>
                <a:sym typeface="Graphik Light"/>
              </a:defRPr>
            </a:pPr>
            <a:r>
              <a:t>Compare with Northern Ireland’s similar epidemic model, perhaps in one hierarchical model</a:t>
            </a:r>
          </a:p>
          <a:p>
            <a:pPr marL="302293" indent="-302293" defTabSz="1633686">
              <a:spcBef>
                <a:spcPts val="3100"/>
              </a:spcBef>
              <a:buSzPct val="100000"/>
              <a:buChar char="•"/>
              <a:defRPr sz="3015">
                <a:latin typeface="Graphik Light"/>
                <a:ea typeface="Graphik Light"/>
                <a:cs typeface="Graphik Light"/>
                <a:sym typeface="Graphik Light"/>
              </a:defRPr>
            </a:pPr>
            <a:r>
              <a:t>Social network models</a:t>
            </a:r>
          </a:p>
          <a:p>
            <a:pPr marL="302293" indent="-302293" defTabSz="1633686">
              <a:spcBef>
                <a:spcPts val="3100"/>
              </a:spcBef>
              <a:buSzPct val="100000"/>
              <a:buChar char="•"/>
              <a:defRPr sz="3015">
                <a:latin typeface="Graphik Light"/>
                <a:ea typeface="Graphik Light"/>
                <a:cs typeface="Graphik Light"/>
                <a:sym typeface="Graphik Light"/>
              </a:defRPr>
            </a:pPr>
            <a:r>
              <a:t>Compare with UK models </a:t>
            </a:r>
            <a:r>
              <a:rPr u="sng">
                <a:solidFill>
                  <a:srgbClr val="0000FF"/>
                </a:solidFill>
                <a:uFill>
                  <a:solidFill>
                    <a:srgbClr val="0000FF"/>
                  </a:solidFill>
                </a:uFill>
                <a:hlinkClick r:id="rId2" invalidUrl="" action="" tgtFrame="" tooltip="" history="1" highlightClick="0" endSnd="0"/>
              </a:rPr>
              <a:t>https://www.gov.uk/government/publications/reproduction-number-r-and-growth-rate-methodology/reproduction-number-r-and-growth-rate-methodology#fnref:1</a:t>
            </a:r>
          </a:p>
          <a:p>
            <a:pPr marL="302293" indent="-302293" defTabSz="1633686">
              <a:spcBef>
                <a:spcPts val="3100"/>
              </a:spcBef>
              <a:buSzPct val="100000"/>
              <a:buChar char="•"/>
              <a:defRPr sz="3015">
                <a:latin typeface="Graphik Light"/>
                <a:ea typeface="Graphik Light"/>
                <a:cs typeface="Graphik Light"/>
                <a:sym typeface="Graphik Light"/>
              </a:defRPr>
            </a:pPr>
            <a:r>
              <a:t>Implement age-based model </a:t>
            </a:r>
          </a:p>
          <a:p>
            <a:pPr marL="302293" indent="-302293" defTabSz="1633686">
              <a:spcBef>
                <a:spcPts val="3100"/>
              </a:spcBef>
              <a:buSzPct val="100000"/>
              <a:buChar char="•"/>
              <a:defRPr sz="3015">
                <a:latin typeface="Graphik Light"/>
                <a:ea typeface="Graphik Light"/>
                <a:cs typeface="Graphik Light"/>
                <a:sym typeface="Graphik Light"/>
              </a:defRPr>
            </a:pPr>
            <a:r>
              <a:t>Add economic effects</a:t>
            </a:r>
          </a:p>
        </p:txBody>
      </p:sp>
      <p:sp>
        <p:nvSpPr>
          <p:cNvPr id="401" name="Slide Number"/>
          <p:cNvSpPr txBox="1"/>
          <p:nvPr>
            <p:ph type="sldNum" sz="quarter" idx="2"/>
          </p:nvPr>
        </p:nvSpPr>
        <p:spPr>
          <a:xfrm>
            <a:off x="23558500" y="12458700"/>
            <a:ext cx="41173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02" name="IEMAG model.png" descr="IEMAG model.png"/>
          <p:cNvPicPr>
            <a:picLocks noChangeAspect="1"/>
          </p:cNvPicPr>
          <p:nvPr/>
        </p:nvPicPr>
        <p:blipFill>
          <a:blip r:embed="rId3">
            <a:extLst/>
          </a:blip>
          <a:stretch>
            <a:fillRect/>
          </a:stretch>
        </p:blipFill>
        <p:spPr>
          <a:xfrm>
            <a:off x="9214296" y="2502763"/>
            <a:ext cx="14538771" cy="9853363"/>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The Irish COVID Enquiry"/>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Irish COVID Enquiry</a:t>
            </a:r>
          </a:p>
        </p:txBody>
      </p:sp>
      <p:sp>
        <p:nvSpPr>
          <p:cNvPr id="405" name="Body Level One…"/>
          <p:cNvSpPr txBox="1"/>
          <p:nvPr>
            <p:ph type="body" idx="21"/>
          </p:nvPr>
        </p:nvSpPr>
        <p:spPr>
          <a:xfrm>
            <a:off x="852368" y="9186905"/>
            <a:ext cx="22450664" cy="3987633"/>
          </a:xfrm>
          <a:prstGeom prst="rect">
            <a:avLst/>
          </a:prstGeom>
          <a:extLst>
            <a:ext uri="{C572A759-6A51-4108-AA02-DFA0A04FC94B}">
              <ma14:wrappingTextBoxFlag xmlns:ma14="http://schemas.microsoft.com/office/mac/drawingml/2011/main" val="1"/>
            </a:ext>
          </a:extLst>
        </p:spPr>
        <p:txBody>
          <a:bodyPr/>
          <a:lstStyle/>
          <a:p>
            <a:pPr marL="391885" indent="-391885">
              <a:defRPr sz="2400"/>
            </a:pPr>
            <a:r>
              <a:t>The Irish Epidemiological Modelling Advisory Group  (IEMAG) team head Prof. Philip Nolan discusses his experience at an RIA panel, commenting that the ‘follow the science’ approach was authoritarian https://www.youtube.com/watch?v=Estl2VBSKcc</a:t>
            </a:r>
          </a:p>
          <a:p>
            <a:pPr marL="422030" indent="-422030">
              <a:defRPr sz="2400"/>
            </a:pPr>
            <a:r>
              <a:t>Irish enquiry into the pandemic is now under way by a panel of academics scrutinising the plans and responses, but with relatively limited powers, no cross-examination and no power of compel appearance.  Contact details are online at https://www.covid19evaluation.ie/</a:t>
            </a:r>
          </a:p>
          <a:p>
            <a:pPr marL="422030" indent="-422030">
              <a:defRPr sz="2400"/>
            </a:pPr>
            <a:r>
              <a:t>My own view is that the analysis needs prior preparation, probably with nominated specialists and a menu of data sources, models and tools shared within the EU and globally, with the data infrastructure set up in advance</a:t>
            </a:r>
          </a:p>
        </p:txBody>
      </p:sp>
      <p:sp>
        <p:nvSpPr>
          <p:cNvPr id="406" name="Slide Number"/>
          <p:cNvSpPr txBox="1"/>
          <p:nvPr>
            <p:ph type="sldNum" sz="quarter" idx="2"/>
          </p:nvPr>
        </p:nvSpPr>
        <p:spPr>
          <a:xfrm>
            <a:off x="23558500" y="12458700"/>
            <a:ext cx="42443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07" name="pasted-movie.png" descr="pasted-movie.png"/>
          <p:cNvPicPr>
            <a:picLocks noChangeAspect="1"/>
          </p:cNvPicPr>
          <p:nvPr/>
        </p:nvPicPr>
        <p:blipFill>
          <a:blip r:embed="rId2">
            <a:extLst/>
          </a:blip>
          <a:stretch>
            <a:fillRect/>
          </a:stretch>
        </p:blipFill>
        <p:spPr>
          <a:xfrm>
            <a:off x="4437346" y="2691609"/>
            <a:ext cx="13619010" cy="6127787"/>
          </a:xfrm>
          <a:prstGeom prst="rect">
            <a:avLst/>
          </a:prstGeom>
          <a:ln w="12700">
            <a:miter lim="400000"/>
          </a:ln>
        </p:spPr>
      </p:pic>
      <p:sp>
        <p:nvSpPr>
          <p:cNvPr id="408" name="https://github.com/dpnolan/pandemice"/>
          <p:cNvSpPr txBox="1"/>
          <p:nvPr/>
        </p:nvSpPr>
        <p:spPr>
          <a:xfrm>
            <a:off x="8267700" y="12987401"/>
            <a:ext cx="6769100" cy="5427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457200">
              <a:buSzPct val="100000"/>
              <a:buChar char="•"/>
              <a:defRPr sz="2600">
                <a:solidFill>
                  <a:schemeClr val="accent4"/>
                </a:solidFill>
                <a:latin typeface="Graphik Light"/>
                <a:ea typeface="Graphik Light"/>
                <a:cs typeface="Graphik Light"/>
                <a:sym typeface="Graphik Light"/>
              </a:defRPr>
            </a:pPr>
            <a:r>
              <a:rPr u="sng">
                <a:uFill>
                  <a:solidFill>
                    <a:srgbClr val="0000FF"/>
                  </a:solidFill>
                </a:uFill>
                <a:hlinkClick r:id="rId3" invalidUrl="" action="" tgtFrame="" tooltip="" history="1" highlightClick="0" endSnd="0"/>
              </a:rPr>
              <a:t>https://github.com/dpnolan/pandemic</a:t>
            </a:r>
            <a:r>
              <a:t>e</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Who and Where are the Global Irish?"/>
          <p:cNvSpPr txBox="1"/>
          <p:nvPr>
            <p:ph type="title"/>
          </p:nvPr>
        </p:nvSpPr>
        <p:spPr>
          <a:xfrm>
            <a:off x="1206500" y="582847"/>
            <a:ext cx="21971000" cy="1689101"/>
          </a:xfrm>
          <a:prstGeom prst="rect">
            <a:avLst/>
          </a:prstGeom>
        </p:spPr>
        <p:txBody>
          <a:bodyPr/>
          <a:lstStyle>
            <a:lvl1pPr defTabSz="2316421">
              <a:defRPr sz="9500"/>
            </a:lvl1pPr>
          </a:lstStyle>
          <a:p>
            <a:pPr/>
            <a:r>
              <a:t>Conclusions</a:t>
            </a:r>
          </a:p>
        </p:txBody>
      </p:sp>
      <p:sp>
        <p:nvSpPr>
          <p:cNvPr id="411" name="Northern Ireland: CRN, PUL and unaffiliated, Irish, British, Northern Irish total 1.9m…"/>
          <p:cNvSpPr txBox="1"/>
          <p:nvPr>
            <p:ph type="body" sz="half" idx="1"/>
          </p:nvPr>
        </p:nvSpPr>
        <p:spPr>
          <a:xfrm>
            <a:off x="952500" y="1993393"/>
            <a:ext cx="10680700" cy="10680701"/>
          </a:xfrm>
          <a:prstGeom prst="rect">
            <a:avLst/>
          </a:prstGeom>
        </p:spPr>
        <p:txBody>
          <a:bodyPr lIns="50800" tIns="50800" rIns="50800" bIns="50800"/>
          <a:lstStyle/>
          <a:p>
            <a:pPr marL="320842" indent="-320842" defTabSz="1950670">
              <a:spcBef>
                <a:spcPts val="3700"/>
              </a:spcBef>
              <a:buSzPct val="100000"/>
              <a:buChar char="•"/>
              <a:defRPr sz="3200">
                <a:latin typeface="Graphik Light"/>
                <a:ea typeface="Graphik Light"/>
                <a:cs typeface="Graphik Light"/>
                <a:sym typeface="Graphik Light"/>
              </a:defRPr>
            </a:pPr>
          </a:p>
          <a:p>
            <a:pPr marL="320842" indent="-320842" defTabSz="1950670">
              <a:spcBef>
                <a:spcPts val="3700"/>
              </a:spcBef>
              <a:buSzPct val="100000"/>
              <a:buChar char="•"/>
              <a:defRPr sz="3200">
                <a:latin typeface="Graphik Light"/>
                <a:ea typeface="Graphik Light"/>
                <a:cs typeface="Graphik Light"/>
                <a:sym typeface="Graphik Light"/>
              </a:defRPr>
            </a:pPr>
            <a:r>
              <a:t>PyMC can estimate simple SIR models, coming close to published results or simulations</a:t>
            </a:r>
          </a:p>
          <a:p>
            <a:pPr marL="320842" indent="-320842" defTabSz="1950670">
              <a:spcBef>
                <a:spcPts val="3700"/>
              </a:spcBef>
              <a:buSzPct val="100000"/>
              <a:buChar char="•"/>
              <a:defRPr sz="3200">
                <a:latin typeface="Graphik Light"/>
                <a:ea typeface="Graphik Light"/>
                <a:cs typeface="Graphik Light"/>
                <a:sym typeface="Graphik Light"/>
              </a:defRPr>
            </a:pPr>
            <a:r>
              <a:t>Ecosystem of libraries and published research for epidemiology in STAN is larger, better-supported and gives same output</a:t>
            </a:r>
          </a:p>
          <a:p>
            <a:pPr marL="320842" indent="-320842" defTabSz="1950670">
              <a:spcBef>
                <a:spcPts val="3700"/>
              </a:spcBef>
              <a:buSzPct val="100000"/>
              <a:buChar char="•"/>
              <a:defRPr sz="3200">
                <a:latin typeface="Graphik Light"/>
                <a:ea typeface="Graphik Light"/>
                <a:cs typeface="Graphik Light"/>
                <a:sym typeface="Graphik Light"/>
              </a:defRPr>
            </a:pPr>
            <a:r>
              <a:t>Setup for PyMC was harder than STAN</a:t>
            </a:r>
          </a:p>
          <a:p>
            <a:pPr marL="320842" indent="-320842" defTabSz="1950670">
              <a:spcBef>
                <a:spcPts val="3700"/>
              </a:spcBef>
              <a:buSzPct val="100000"/>
              <a:buChar char="•"/>
              <a:defRPr sz="3200">
                <a:latin typeface="Graphik Light"/>
                <a:ea typeface="Graphik Light"/>
                <a:cs typeface="Graphik Light"/>
                <a:sym typeface="Graphik Light"/>
              </a:defRPr>
            </a:pPr>
            <a:r>
              <a:t>SIR models are the transparent and useful tool for measuring and forecasting the pandemic, perhaps THE most useful</a:t>
            </a:r>
          </a:p>
          <a:p>
            <a:pPr marL="320842" indent="-320842" defTabSz="1950670">
              <a:spcBef>
                <a:spcPts val="3700"/>
              </a:spcBef>
              <a:buSzPct val="100000"/>
              <a:buChar char="•"/>
              <a:defRPr sz="3200">
                <a:latin typeface="Graphik Light"/>
                <a:ea typeface="Graphik Light"/>
                <a:cs typeface="Graphik Light"/>
                <a:sym typeface="Graphik Light"/>
              </a:defRPr>
            </a:pPr>
            <a:r>
              <a:t>Bird 'flu remains a threat and spreads through farmed and wild animal populations, with more than half the Common Terns breeders dying off in the Dublin Port colony  </a:t>
            </a:r>
            <a:r>
              <a:rPr u="sng">
                <a:solidFill>
                  <a:srgbClr val="0000FF"/>
                </a:solidFill>
                <a:uFill>
                  <a:solidFill>
                    <a:srgbClr val="0000FF"/>
                  </a:solidFill>
                </a:uFill>
                <a:hlinkClick r:id="rId2" invalidUrl="" action="" tgtFrame="" tooltip="" history="1" highlightClick="0" endSnd="0"/>
              </a:rPr>
              <a:t>https://birdwatchireland.ie/devastating-bird-flu-impacts-on-irish-seabirds-revealed-in-new-study/</a:t>
            </a:r>
          </a:p>
        </p:txBody>
      </p:sp>
      <p:sp>
        <p:nvSpPr>
          <p:cNvPr id="412" name="Slide Number"/>
          <p:cNvSpPr txBox="1"/>
          <p:nvPr>
            <p:ph type="sldNum" sz="quarter" idx="2"/>
          </p:nvPr>
        </p:nvSpPr>
        <p:spPr>
          <a:xfrm>
            <a:off x="23558500" y="12458700"/>
            <a:ext cx="427737"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13" name="birdflu.png" descr="birdflu.png"/>
          <p:cNvPicPr>
            <a:picLocks noChangeAspect="1"/>
          </p:cNvPicPr>
          <p:nvPr/>
        </p:nvPicPr>
        <p:blipFill>
          <a:blip r:embed="rId3">
            <a:extLst/>
          </a:blip>
          <a:stretch>
            <a:fillRect/>
          </a:stretch>
        </p:blipFill>
        <p:spPr>
          <a:xfrm>
            <a:off x="12488333" y="2755900"/>
            <a:ext cx="10934701" cy="8201025"/>
          </a:xfrm>
          <a:prstGeom prst="rect">
            <a:avLst/>
          </a:prstGeom>
          <a:ln w="12700">
            <a:miter lim="400000"/>
          </a:ln>
        </p:spPr>
      </p:pic>
      <p:sp>
        <p:nvSpPr>
          <p:cNvPr id="414" name="https://github.com/dpnolan/pandemice"/>
          <p:cNvSpPr txBox="1"/>
          <p:nvPr/>
        </p:nvSpPr>
        <p:spPr>
          <a:xfrm>
            <a:off x="8483600" y="12885801"/>
            <a:ext cx="6476797" cy="54279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457200" indent="-457200">
              <a:buSzPct val="100000"/>
              <a:buChar char="•"/>
              <a:defRPr sz="2600">
                <a:solidFill>
                  <a:srgbClr val="FFFFFF"/>
                </a:solidFill>
                <a:latin typeface="Graphik Light"/>
                <a:ea typeface="Graphik Light"/>
                <a:cs typeface="Graphik Light"/>
                <a:sym typeface="Graphik Light"/>
              </a:defRPr>
            </a:pPr>
            <a:r>
              <a:rPr u="sng">
                <a:solidFill>
                  <a:schemeClr val="accent4"/>
                </a:solidFill>
                <a:uFill>
                  <a:solidFill>
                    <a:srgbClr val="0000FF"/>
                  </a:solidFill>
                </a:uFill>
                <a:hlinkClick r:id="rId4" invalidUrl="" action="" tgtFrame="" tooltip="" history="1" highlightClick="0" endSnd="0"/>
              </a:rPr>
              <a:t>https://github.com/dpnolan/pandemic</a:t>
            </a:r>
            <a:r>
              <a:t>e</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Citizenship for the Second Irish Century"/>
          <p:cNvSpPr txBox="1"/>
          <p:nvPr>
            <p:ph type="body" idx="22"/>
          </p:nvPr>
        </p:nvSpPr>
        <p:spPr>
          <a:xfrm>
            <a:off x="673975" y="8283378"/>
            <a:ext cx="11370022" cy="4263954"/>
          </a:xfrm>
          <a:prstGeom prst="rect">
            <a:avLst/>
          </a:prstGeom>
          <a:extLst>
            <a:ext uri="{C572A759-6A51-4108-AA02-DFA0A04FC94B}">
              <ma14:wrappingTextBoxFlag xmlns:ma14="http://schemas.microsoft.com/office/mac/drawingml/2011/main" val="1"/>
            </a:ext>
          </a:extLst>
        </p:spPr>
        <p:txBody>
          <a:bodyPr/>
          <a:lstStyle/>
          <a:p>
            <a:pPr defTabSz="79654">
              <a:lnSpc>
                <a:spcPct val="90000"/>
              </a:lnSpc>
              <a:defRPr spc="-66" sz="3400"/>
            </a:pPr>
            <a:r>
              <a:t>Peter Nolan</a:t>
            </a:r>
            <a:endParaRPr>
              <a:solidFill>
                <a:schemeClr val="accent4"/>
              </a:solidFill>
            </a:endParaRPr>
          </a:p>
          <a:p>
            <a:pPr defTabSz="79654">
              <a:lnSpc>
                <a:spcPct val="90000"/>
              </a:lnSpc>
              <a:defRPr spc="-66" sz="3400">
                <a:solidFill>
                  <a:schemeClr val="accent4"/>
                </a:solidFill>
              </a:defRPr>
            </a:pPr>
            <a:r>
              <a:rPr>
                <a:hlinkClick r:id="rId2" invalidUrl="" action="" tgtFrame="" tooltip="" history="1" highlightClick="0" endSnd="0"/>
              </a:rPr>
              <a:t>https://github.com/dpnolan/pandemic</a:t>
            </a:r>
          </a:p>
          <a:p>
            <a:pPr defTabSz="79654">
              <a:lnSpc>
                <a:spcPct val="90000"/>
              </a:lnSpc>
              <a:defRPr spc="-66" sz="3400"/>
            </a:pPr>
            <a:r>
              <a:rPr>
                <a:hlinkClick r:id="rId3" invalidUrl="" action="" tgtFrame="" tooltip="" history="1" highlightClick="0" endSnd="0"/>
              </a:rPr>
              <a:t>databeaker@gmail.com</a:t>
            </a:r>
          </a:p>
          <a:p>
            <a:pPr defTabSz="79654">
              <a:lnSpc>
                <a:spcPct val="90000"/>
              </a:lnSpc>
              <a:defRPr spc="-66" sz="3400"/>
            </a:pPr>
            <a:r>
              <a:t>@dpnolan</a:t>
            </a:r>
          </a:p>
          <a:p>
            <a:pPr defTabSz="79654">
              <a:lnSpc>
                <a:spcPct val="90000"/>
              </a:lnSpc>
              <a:defRPr spc="-66" sz="3400"/>
            </a:pPr>
          </a:p>
          <a:p>
            <a:pPr defTabSz="79654">
              <a:lnSpc>
                <a:spcPct val="90000"/>
              </a:lnSpc>
              <a:defRPr spc="-66" sz="3400"/>
            </a:pPr>
            <a:r>
              <a:t>Python Ireland</a:t>
            </a:r>
          </a:p>
          <a:p>
            <a:pPr defTabSz="79654">
              <a:lnSpc>
                <a:spcPct val="90000"/>
              </a:lnSpc>
              <a:defRPr spc="-66" sz="3400"/>
            </a:pPr>
            <a:r>
              <a:t>Sunday 16 November 2025</a:t>
            </a:r>
          </a:p>
          <a:p>
            <a:pPr defTabSz="79654">
              <a:lnSpc>
                <a:spcPct val="90000"/>
              </a:lnSpc>
              <a:defRPr spc="-66" sz="3400"/>
            </a:pPr>
            <a:r>
              <a:t>UCD</a:t>
            </a:r>
          </a:p>
          <a:p>
            <a:pPr defTabSz="79654">
              <a:lnSpc>
                <a:spcPct val="90000"/>
              </a:lnSpc>
              <a:defRPr spc="-66" sz="3400"/>
            </a:pPr>
          </a:p>
          <a:p>
            <a:pPr defTabSz="79654">
              <a:lnSpc>
                <a:spcPct val="90000"/>
              </a:lnSpc>
              <a:defRPr spc="-66" sz="3400"/>
            </a:pPr>
          </a:p>
        </p:txBody>
      </p:sp>
      <p:sp>
        <p:nvSpPr>
          <p:cNvPr id="417" name="Building a Home for the Global Irish Nation"/>
          <p:cNvSpPr txBox="1"/>
          <p:nvPr>
            <p:ph type="title"/>
          </p:nvPr>
        </p:nvSpPr>
        <p:spPr>
          <a:xfrm>
            <a:off x="558800" y="2030372"/>
            <a:ext cx="12358449" cy="4648203"/>
          </a:xfrm>
          <a:prstGeom prst="rect">
            <a:avLst/>
          </a:prstGeom>
        </p:spPr>
        <p:txBody>
          <a:bodyPr/>
          <a:lstStyle/>
          <a:p>
            <a:pPr defTabSz="210266">
              <a:defRPr spc="-75" sz="7300"/>
            </a:pPr>
            <a:r>
              <a:t>Modelling the COVID Pandemic in Ireland with Bayesian Methods in Python</a:t>
            </a:r>
          </a:p>
          <a:p>
            <a:pPr defTabSz="210266">
              <a:defRPr spc="-75" sz="7300"/>
            </a:pPr>
            <a:r>
              <a:t>using PyMC and STAN</a:t>
            </a:r>
          </a:p>
        </p:txBody>
      </p:sp>
      <p:sp>
        <p:nvSpPr>
          <p:cNvPr id="418" name="Slide Number"/>
          <p:cNvSpPr txBox="1"/>
          <p:nvPr>
            <p:ph type="sldNum" sz="quarter" idx="2"/>
          </p:nvPr>
        </p:nvSpPr>
        <p:spPr>
          <a:xfrm>
            <a:off x="23558500" y="12458700"/>
            <a:ext cx="4201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19" name="COVID_stack.jpg" descr="COVID_stack.jpg"/>
          <p:cNvPicPr>
            <a:picLocks noChangeAspect="1"/>
          </p:cNvPicPr>
          <p:nvPr/>
        </p:nvPicPr>
        <p:blipFill>
          <a:blip r:embed="rId4">
            <a:extLst/>
          </a:blip>
          <a:stretch>
            <a:fillRect/>
          </a:stretch>
        </p:blipFill>
        <p:spPr>
          <a:xfrm>
            <a:off x="14808200" y="2133600"/>
            <a:ext cx="7810500" cy="104140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7_MinimalistDark">
  <a:themeElements>
    <a:clrScheme name="37_MinimalistDark">
      <a:dk1>
        <a:srgbClr val="4B6079"/>
      </a:dk1>
      <a:lt1>
        <a:srgbClr val="4B6079"/>
      </a:lt1>
      <a:dk2>
        <a:srgbClr val="A7A7A7"/>
      </a:dk2>
      <a:lt2>
        <a:srgbClr val="535353"/>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7_MinimalistDark">
      <a:majorFont>
        <a:latin typeface="Helvetica"/>
        <a:ea typeface="Helvetica"/>
        <a:cs typeface="Helvetica"/>
      </a:majorFont>
      <a:minorFont>
        <a:latin typeface="Helvetica Neue"/>
        <a:ea typeface="Helvetica Neue"/>
        <a:cs typeface="Helvetica Neue"/>
      </a:minorFont>
    </a:fontScheme>
    <a:fmtScheme name="37_Minimalis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7_MinimalistDark">
  <a:themeElements>
    <a:clrScheme name="37_MinimalistDark">
      <a:dk1>
        <a:srgbClr val="000000"/>
      </a:dk1>
      <a:lt1>
        <a:srgbClr val="FFFFFF"/>
      </a:lt1>
      <a:dk2>
        <a:srgbClr val="A7A7A7"/>
      </a:dk2>
      <a:lt2>
        <a:srgbClr val="535353"/>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7_MinimalistDark">
      <a:majorFont>
        <a:latin typeface="Helvetica"/>
        <a:ea typeface="Helvetica"/>
        <a:cs typeface="Helvetica"/>
      </a:majorFont>
      <a:minorFont>
        <a:latin typeface="Helvetica Neue"/>
        <a:ea typeface="Helvetica Neue"/>
        <a:cs typeface="Helvetica Neue"/>
      </a:minorFont>
    </a:fontScheme>
    <a:fmtScheme name="37_Minimalis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